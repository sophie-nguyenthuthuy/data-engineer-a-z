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394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9327513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17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932751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Lakehouse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932751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 gì?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932751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 Iceberg · Delta Lake · Hudi — so sánh thẳng thắn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394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3357563"/>
            <a:ext cx="90633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Vấn đề của lake "thuần Parquet" · Table format là gì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5000" y="4386263"/>
            <a:ext cx="870467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ACID trên object storage · Snapshot &amp; time travel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59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59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5414963"/>
            <a:ext cx="344947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Hidden partitioning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246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05000" y="6443663"/>
            <a:ext cx="221402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Compaction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3533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353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05000" y="7472363"/>
            <a:ext cx="423250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Iceberg vs Delta vs Hudi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394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48172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Lake thuần Parquet thiếu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7183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143250"/>
            <a:ext cx="840475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ACID — job chết giữa chừng để lại file dở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04336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914775"/>
            <a:ext cx="585373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update / delete từng dòng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81488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686300"/>
            <a:ext cx="372516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schema = đọc lỗi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58641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457825"/>
            <a:ext cx="443018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partition = ghi lại hết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357938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6229350"/>
            <a:ext cx="820339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biết "bảng lúc 9 giờ sáng" trông thế nào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394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14936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Table format nằm ở đâu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13347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7775" y="3374231"/>
            <a:ext cx="20955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57575" y="3209925"/>
            <a:ext cx="3281363" cy="61912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0755" y="3362325"/>
            <a:ext cx="3075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891338" y="3209925"/>
            <a:ext cx="3281363" cy="61912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4517" y="3362325"/>
            <a:ext cx="3075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Trino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325100" y="3209925"/>
            <a:ext cx="3281363" cy="61912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8280" y="3362325"/>
            <a:ext cx="3075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DuckDB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758863" y="3209925"/>
            <a:ext cx="3281363" cy="61912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62042" y="3362325"/>
            <a:ext cx="3075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Flink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4276725"/>
            <a:ext cx="16459200" cy="1404938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7300" y="4543425"/>
            <a:ext cx="1981200" cy="909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TABLE FORMAT </a:t>
            </a:r>
            <a:pPr algn="l" indent="0" marL="0">
              <a:buNone/>
            </a:pPr>
            <a:r>
              <a:rPr lang="en-US" sz="165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Iceberg metadata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67100" y="4676775"/>
            <a:ext cx="3033713" cy="604838"/>
          </a:xfrm>
          <a:prstGeom prst="rect">
            <a:avLst/>
          </a:prstGeom>
          <a:ln w="19050">
            <a:solidFill>
              <a:srgbClr val="F47B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73994" y="4829175"/>
            <a:ext cx="281992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metadata.json</a:t>
            </a:r>
            <a:endParaRPr lang="en-US" sz="1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00813" y="4836319"/>
            <a:ext cx="476250" cy="28575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977063" y="4676775"/>
            <a:ext cx="3033713" cy="604838"/>
          </a:xfrm>
          <a:prstGeom prst="rect">
            <a:avLst/>
          </a:prstGeom>
          <a:ln w="19050">
            <a:solidFill>
              <a:srgbClr val="F47B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83957" y="4829175"/>
            <a:ext cx="281992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manifest list</a:t>
            </a:r>
            <a:endParaRPr lang="en-US" sz="18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0775" y="4836319"/>
            <a:ext cx="476250" cy="28575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0487025" y="4676775"/>
            <a:ext cx="3033713" cy="604838"/>
          </a:xfrm>
          <a:prstGeom prst="rect">
            <a:avLst/>
          </a:prstGeom>
          <a:ln w="19050">
            <a:solidFill>
              <a:srgbClr val="F47B2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593919" y="4829175"/>
            <a:ext cx="281992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manifest</a:t>
            </a:r>
            <a:endParaRPr lang="en-US" sz="1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0738" y="4836319"/>
            <a:ext cx="476250" cy="28575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3996988" y="4676775"/>
            <a:ext cx="3033713" cy="604838"/>
          </a:xfrm>
          <a:prstGeom prst="rect">
            <a:avLst/>
          </a:prstGeom>
          <a:ln w="19050">
            <a:solidFill>
              <a:srgbClr val="F47B2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4103882" y="4829175"/>
            <a:ext cx="281992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files + stats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14400" y="5872163"/>
            <a:ext cx="16459200" cy="10096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247775" y="6231731"/>
            <a:ext cx="20955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STORAGE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3457575" y="6219825"/>
            <a:ext cx="18859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S3 / MinIO</a:t>
            </a:r>
            <a:endParaRPr lang="en-US" sz="1950" dirty="0"/>
          </a:p>
        </p:txBody>
      </p:sp>
      <p:sp>
        <p:nvSpPr>
          <p:cNvPr id="30" name="Shape 25"/>
          <p:cNvSpPr/>
          <p:nvPr/>
        </p:nvSpPr>
        <p:spPr>
          <a:xfrm>
            <a:off x="5286375" y="6129338"/>
            <a:ext cx="2289795" cy="495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267325" y="6148388"/>
            <a:ext cx="232789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.parquet</a:t>
            </a:r>
            <a:endParaRPr lang="en-US" sz="1650" dirty="0"/>
          </a:p>
        </p:txBody>
      </p:sp>
      <p:sp>
        <p:nvSpPr>
          <p:cNvPr id="32" name="Shape 27"/>
          <p:cNvSpPr/>
          <p:nvPr/>
        </p:nvSpPr>
        <p:spPr>
          <a:xfrm>
            <a:off x="7652370" y="6129338"/>
            <a:ext cx="2289870" cy="495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633320" y="6148388"/>
            <a:ext cx="23279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.parquet</a:t>
            </a:r>
            <a:endParaRPr lang="en-US" sz="1650" dirty="0"/>
          </a:p>
        </p:txBody>
      </p:sp>
      <p:sp>
        <p:nvSpPr>
          <p:cNvPr id="34" name="Shape 29"/>
          <p:cNvSpPr/>
          <p:nvPr/>
        </p:nvSpPr>
        <p:spPr>
          <a:xfrm>
            <a:off x="10018440" y="6129338"/>
            <a:ext cx="2289795" cy="495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999390" y="6148388"/>
            <a:ext cx="232789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.parquet</a:t>
            </a:r>
            <a:endParaRPr lang="en-US" sz="1650" dirty="0"/>
          </a:p>
        </p:txBody>
      </p:sp>
      <p:sp>
        <p:nvSpPr>
          <p:cNvPr id="36" name="Shape 31"/>
          <p:cNvSpPr/>
          <p:nvPr/>
        </p:nvSpPr>
        <p:spPr>
          <a:xfrm>
            <a:off x="12384435" y="6129338"/>
            <a:ext cx="2289795" cy="495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2365385" y="6148388"/>
            <a:ext cx="232789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.parquet</a:t>
            </a:r>
            <a:endParaRPr lang="en-US" sz="1650" dirty="0"/>
          </a:p>
        </p:txBody>
      </p:sp>
      <p:sp>
        <p:nvSpPr>
          <p:cNvPr id="38" name="Shape 33"/>
          <p:cNvSpPr/>
          <p:nvPr/>
        </p:nvSpPr>
        <p:spPr>
          <a:xfrm>
            <a:off x="14750430" y="6129338"/>
            <a:ext cx="2289795" cy="495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14731380" y="6148388"/>
            <a:ext cx="232789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.parquet</a:t>
            </a:r>
            <a:endParaRPr lang="en-US" sz="1650" dirty="0"/>
          </a:p>
        </p:txBody>
      </p:sp>
      <p:sp>
        <p:nvSpPr>
          <p:cNvPr id="40" name="Text 35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lớp metadata biến thư mục file thành bảng.</a:t>
            </a:r>
            <a:endParaRPr lang="en-US" sz="2700" dirty="0"/>
          </a:p>
        </p:txBody>
      </p:sp>
      <p:sp>
        <p:nvSpPr>
          <p:cNvPr id="41" name="Text 36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42" name="Shape 37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394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26592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 atomic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467600" cy="4381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7775" y="3381375"/>
            <a:ext cx="74809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 · người đọc thấy v1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47775" y="3900488"/>
            <a:ext cx="6800850" cy="6524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4950" y="4062412"/>
            <a:ext cx="11163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current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859214" y="4062412"/>
            <a:ext cx="21254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snapshot v1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47775" y="5895975"/>
            <a:ext cx="2165300" cy="12001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8250" y="5924550"/>
            <a:ext cx="21843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565475" y="5895975"/>
            <a:ext cx="2165375" cy="12001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5950" y="5924550"/>
            <a:ext cx="21844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883250" y="5895975"/>
            <a:ext cx="2165375" cy="1200150"/>
          </a:xfrm>
          <a:prstGeom prst="rect">
            <a:avLst/>
          </a:prstGeom>
          <a:ln w="28575">
            <a:solidFill>
              <a:srgbClr val="F47B2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885905" y="6169819"/>
            <a:ext cx="23626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913388" y="6579394"/>
            <a:ext cx="2315528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 ghi, chưa ai thấy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30010" y="4623495"/>
            <a:ext cx="1227906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2143"/>
              </a:lnSpc>
              <a:buNone/>
            </a:pPr>
            <a:r>
              <a:rPr lang="en-US" sz="16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con trỏ 1 thao tác</a:t>
            </a:r>
            <a:endParaRPr lang="en-US" sz="16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0" y="5282505"/>
            <a:ext cx="1524000" cy="5715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906000" y="3048000"/>
            <a:ext cx="7467600" cy="4381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248900" y="3390900"/>
            <a:ext cx="74599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 · người đọc thấy v2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0248900" y="3910013"/>
            <a:ext cx="6781800" cy="652463"/>
          </a:xfrm>
          <a:prstGeom prst="rect">
            <a:avLst/>
          </a:prstGeom>
          <a:ln w="28575">
            <a:solidFill>
              <a:srgbClr val="F47B2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06075" y="4071938"/>
            <a:ext cx="11163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current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4841289" y="4071938"/>
            <a:ext cx="21254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snapshot v2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10248900" y="5886450"/>
            <a:ext cx="2158975" cy="12001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39375" y="5915025"/>
            <a:ext cx="21780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12560275" y="5886450"/>
            <a:ext cx="2159050" cy="12001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550750" y="5915025"/>
            <a:ext cx="21781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4871725" y="5886450"/>
            <a:ext cx="2158975" cy="1200150"/>
          </a:xfrm>
          <a:prstGeom prst="rect">
            <a:avLst/>
          </a:prstGeom>
          <a:ln w="28575">
            <a:solidFill>
              <a:srgbClr val="F47B2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862200" y="5915025"/>
            <a:ext cx="21780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ACID = đổi một con trỏ. Job chết trước đó → vẫn là v1.</a:t>
            </a:r>
            <a:endParaRPr lang="en-US" sz="2700" dirty="0"/>
          </a:p>
        </p:txBody>
      </p:sp>
      <p:sp>
        <p:nvSpPr>
          <p:cNvPr id="30" name="Text 27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394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390000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 travel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4438352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4438352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theo số snapshot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COUNT(*) FROM lake.silver.pos VERSION AS OF 12;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theo thời điểm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COUNT(*) FROM lake.silver.pos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71550" y="5076676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TIMESTAMP AS OF '2026-11-20 09:00:00';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xem lịch sử snapshot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snapshot_id, committed_at, operation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68818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lake.silver.pos.snapshots ORDER BY committed_at DESC;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4400" y="8710613"/>
            <a:ext cx="1300716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 travel miễn phí nhờ snapshot còn giữ. Debug "số hôm qua khác hôm nay" trong 1 câu.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394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05717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Hidden partitioning </a:t>
            </a:r>
            <a:pPr algn="l" indent="0" marL="0">
              <a:buNone/>
            </a:pPr>
            <a:r>
              <a:rPr lang="en-US" sz="4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(Iceberg)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1037616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Khai báo bằng transform: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days(ts)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bucket(16, store_id)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762983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query không cần biết cột partition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771700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partition spec không ghi lại dữ liệu cũ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409637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Hết lỗi "quên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dt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394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34947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và partition evolution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404023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404023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thêm cột: metadata thôi, file cũ đọc ra NULL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 lake.silver.pos ADD COLUMN water_temp DOUBLE;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đổi tên cột an toàn, Iceberg theo dõi bằng field id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 lake.silver.pos RENAME COLUMN amount TO amount_vnd;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đổi partition: dữ liệu cũ giữ days, dữ liệu mới ghi hours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 lake.silver.pos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71550" y="6271022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5" name="Text 13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REPLACE PARTITION FIELD days(ts) WITH hours(ts);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8710613"/>
            <a:ext cx="728914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và partition evolution không chạm file cũ.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394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27891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 trì bảng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829678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Compaction gộp file nhỏ: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rewrite_data_files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850044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Expire snapshot cũ để giải phóng dung lượng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809984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Xoá orphan file không snapshot nào trỏ tới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594229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Lên lịch bằng Airflow (video 19)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394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10407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Iceberg vs Delta Lake vs Hudi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2857500" cy="8382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0" y="2857500"/>
            <a:ext cx="4457700" cy="8382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0" y="2990850"/>
            <a:ext cx="405803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Iceberg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8382000" y="2857500"/>
            <a:ext cx="4457700" cy="8382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8648700" y="2990850"/>
            <a:ext cx="405803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Delta Lake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915900" y="2857500"/>
            <a:ext cx="4457700" cy="8382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0" name="Text 8"/>
          <p:cNvSpPr/>
          <p:nvPr/>
        </p:nvSpPr>
        <p:spPr>
          <a:xfrm>
            <a:off x="13182600" y="2990850"/>
            <a:ext cx="405803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Hudi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81100" y="3905250"/>
            <a:ext cx="2409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gốc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3848100" y="3771900"/>
            <a:ext cx="4457700" cy="8382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3375" y="393382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Netflix → Apache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8382000" y="3771900"/>
            <a:ext cx="4457700" cy="8382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7750" y="392430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Databricks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2915900" y="3771900"/>
            <a:ext cx="4457700" cy="8382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01650" y="392430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Uber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181100" y="4819650"/>
            <a:ext cx="2409825" cy="744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Engine hỗ trợ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3848100" y="4686300"/>
            <a:ext cx="4457700" cy="973336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43375" y="4848225"/>
            <a:ext cx="4000881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Rộng nhất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8382000" y="4686300"/>
            <a:ext cx="4457700" cy="97333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67750" y="4838700"/>
            <a:ext cx="401993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Tốt nhất trên Databricks, Spark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2915900" y="4686300"/>
            <a:ext cx="4457700" cy="97333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01650" y="4838700"/>
            <a:ext cx="401993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Spark, Flink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181100" y="5869186"/>
            <a:ext cx="2409825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Hidden partitioning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3848100" y="5735836"/>
            <a:ext cx="4457700" cy="935236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43375" y="5897761"/>
            <a:ext cx="4000881" cy="649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8382000" y="5735836"/>
            <a:ext cx="4457700" cy="93523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67750" y="5888236"/>
            <a:ext cx="4019931" cy="668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12915900" y="5735836"/>
            <a:ext cx="4457700" cy="93523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01650" y="5888236"/>
            <a:ext cx="4019931" cy="668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1181100" y="6880622"/>
            <a:ext cx="2409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Upsert streaming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3848100" y="6747272"/>
            <a:ext cx="4457700" cy="8382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43375" y="6909197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Tốt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8382000" y="6747272"/>
            <a:ext cx="4457700" cy="8382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67750" y="6899672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Tốt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12915900" y="6747272"/>
            <a:ext cx="4457700" cy="8382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01650" y="6899672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Rất tốt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1181100" y="7795022"/>
            <a:ext cx="2409825" cy="76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 hướng 2026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3848100" y="7661672"/>
            <a:ext cx="4457700" cy="992386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43375" y="7823597"/>
            <a:ext cx="400088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 định AWS, Snowflake; Databricks cũng hỗ trợ</a:t>
            </a:r>
            <a:endParaRPr lang="en-US" sz="2025" dirty="0"/>
          </a:p>
        </p:txBody>
      </p:sp>
      <p:sp>
        <p:nvSpPr>
          <p:cNvPr id="42" name="Shape 40"/>
          <p:cNvSpPr/>
          <p:nvPr/>
        </p:nvSpPr>
        <p:spPr>
          <a:xfrm>
            <a:off x="8382000" y="7661672"/>
            <a:ext cx="4457700" cy="99238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67750" y="7814072"/>
            <a:ext cx="4019931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Mạnh trong Databricks</a:t>
            </a:r>
            <a:endParaRPr lang="en-US" sz="2025" dirty="0"/>
          </a:p>
        </p:txBody>
      </p:sp>
      <p:sp>
        <p:nvSpPr>
          <p:cNvPr id="44" name="Shape 42"/>
          <p:cNvSpPr/>
          <p:nvPr/>
        </p:nvSpPr>
        <p:spPr>
          <a:xfrm>
            <a:off x="12915900" y="7661672"/>
            <a:ext cx="4457700" cy="99238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201650" y="7814072"/>
            <a:ext cx="4019931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Ngách</a:t>
            </a:r>
            <a:endParaRPr lang="en-US" sz="2025" dirty="0"/>
          </a:p>
        </p:txBody>
      </p:sp>
      <p:sp>
        <p:nvSpPr>
          <p:cNvPr id="46" name="Text 44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394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83217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Lakehouse trong dự án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3543300" cy="3048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22779" y="4341019"/>
            <a:ext cx="13264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BRONZE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0633" y="4745831"/>
            <a:ext cx="191083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Parquet thô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62151" y="5222081"/>
            <a:ext cx="244772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append, giữ nguyên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7700" y="4762500"/>
            <a:ext cx="762000" cy="381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219700" y="3429000"/>
            <a:ext cx="3543300" cy="30480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8556" y="4169569"/>
            <a:ext cx="112551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SILVER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386289" y="4574381"/>
            <a:ext cx="121012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Iceberg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5634478" y="5050631"/>
            <a:ext cx="271366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merge từ CDC + stream Spark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3000" y="4762500"/>
            <a:ext cx="762000" cy="381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525000" y="3429000"/>
            <a:ext cx="3543300" cy="30480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838036" y="4169569"/>
            <a:ext cx="91715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GOLD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0691589" y="4574381"/>
            <a:ext cx="121012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Iceberg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10495657" y="5050631"/>
            <a:ext cx="160191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 qua Trino star schema</a:t>
            </a:r>
            <a:endParaRPr lang="en-US" sz="1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68300" y="4762500"/>
            <a:ext cx="762000" cy="381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3830300" y="3429000"/>
            <a:ext cx="3543300" cy="3048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4882117" y="4160044"/>
            <a:ext cx="143959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SERVING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4002798" y="4564856"/>
            <a:ext cx="319830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Metabase · Spark ML</a:t>
            </a:r>
            <a:endParaRPr lang="en-US" sz="2250" dirty="0"/>
          </a:p>
        </p:txBody>
      </p:sp>
      <p:sp>
        <p:nvSpPr>
          <p:cNvPr id="22" name="Text 17"/>
          <p:cNvSpPr/>
          <p:nvPr/>
        </p:nvSpPr>
        <p:spPr>
          <a:xfrm>
            <a:off x="14469565" y="5403056"/>
            <a:ext cx="22646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đọc một bản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 video này, silver và gold là Iceberg.</a:t>
            </a:r>
            <a:endParaRPr lang="en-US" sz="2700" dirty="0"/>
          </a:p>
        </p:txBody>
      </p:sp>
      <p:sp>
        <p:nvSpPr>
          <p:cNvPr id="24" name="Text 19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394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expire snapshot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Dung lượng tăng vô hạn → lịch 7 ngày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Streaming 1 file/giây, quên compaction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Compaction mỗi giờ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 format vì "công ty X dùng"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 engine mình có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Hive table cho bảng update nhiều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Iceberg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394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296729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#17 — Chuyển silver sang Iceberg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533400" cy="5334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295275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714500" y="3026569"/>
            <a:ext cx="955523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 catalog Iceberg trên MinIO (REST hoặc Hadoop catalog)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3695700"/>
            <a:ext cx="533400" cy="5334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36957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714500" y="3769519"/>
            <a:ext cx="81784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Migrate silver/pos Parquet sang Iceberg với </a:t>
            </a:r>
            <a:pPr algn="l" indent="0" marL="0">
              <a:lnSpc>
                <a:spcPct val="106579"/>
              </a:lnSpc>
              <a:buNone/>
            </a:pPr>
            <a:r>
              <a:rPr lang="en-US" sz="1875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days(ts)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438650"/>
            <a:ext cx="533400" cy="5334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43865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714500" y="4524375"/>
            <a:ext cx="534327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thêm 1 ngày, xem snapshot list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181600"/>
            <a:ext cx="533400" cy="5334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1816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14500" y="5267325"/>
            <a:ext cx="422488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 travel về trước khi ghi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5924550"/>
            <a:ext cx="533400" cy="5334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592455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714500" y="6010275"/>
            <a:ext cx="693471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cột, đổi partition sang hours, query lại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6667500"/>
            <a:ext cx="533400" cy="5334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20" name="Text 18"/>
          <p:cNvSpPr/>
          <p:nvPr/>
        </p:nvSpPr>
        <p:spPr>
          <a:xfrm>
            <a:off x="876300" y="6667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714500" y="6753225"/>
            <a:ext cx="602374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compaction, đếm file trước / sau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2420600" y="2952750"/>
            <a:ext cx="4953000" cy="29384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30175" y="3362325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30175" y="3881438"/>
            <a:ext cx="45472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 travel đúng số dòng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830175" y="4567238"/>
            <a:ext cx="42578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file giảm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≥ 10 lần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 compaction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394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77968" y="3975274"/>
            <a:ext cx="413206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#17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91553" y="4722986"/>
            <a:ext cx="10704894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Iceberg khác Hive table ở đâu?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17041" y="5911676"/>
            <a:ext cx="925384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Metadata theo file thay vì thư mục; ACID, time travel, evolution.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394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492167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1845759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049563" y="3905250"/>
            <a:ext cx="1177290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 trúc streaming end-to-end: gộp Kafka + Spark + Iceberg thành một hệ thống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6351091"/>
            <a:ext cx="1492167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Sáu 1/1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7355979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7584579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2026-10-22T10:57:57Z</dcterms:created>
  <dcterms:modified xsi:type="dcterms:W3CDTF">2026-10-22T10:57:57Z</dcterms:modified>
</cp:coreProperties>
</file>