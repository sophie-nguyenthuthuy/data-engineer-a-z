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image" Target="../media/image-5-3.png"/><Relationship Id="rId4" Type="http://schemas.openxmlformats.org/officeDocument/2006/relationships/image" Target="../media/image-5-4.svg"/><Relationship Id="rId5" Type="http://schemas.openxmlformats.org/officeDocument/2006/relationships/image" Target="../media/image-5-5.png"/><Relationship Id="rId6" Type="http://schemas.openxmlformats.org/officeDocument/2006/relationships/image" Target="../media/image-5-6.svg"/><Relationship Id="rId7" Type="http://schemas.openxmlformats.org/officeDocument/2006/relationships/image" Target="../media/image-5-7.png"/><Relationship Id="rId8" Type="http://schemas.openxmlformats.org/officeDocument/2006/relationships/image" Target="../media/image-5-8.svg"/><Relationship Id="rId9" Type="http://schemas.openxmlformats.org/officeDocument/2006/relationships/image" Target="../media/image-5-9.png"/><Relationship Id="rId10" Type="http://schemas.openxmlformats.org/officeDocument/2006/relationships/image" Target="../media/image-5-10.svg"/><Relationship Id="rId11" Type="http://schemas.openxmlformats.org/officeDocument/2006/relationships/image" Target="../media/image-5-11.png"/><Relationship Id="rId12" Type="http://schemas.openxmlformats.org/officeDocument/2006/relationships/image" Target="../media/image-5-12.sv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4325243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1FA7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DATA ENGINEER A–Z · #20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2743200"/>
            <a:ext cx="7438534" cy="1943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9051"/>
              </a:lnSpc>
              <a:buNone/>
            </a:pPr>
            <a:r>
              <a:rPr lang="en-US" sz="15000" b="1" spc="-450" kern="0" dirty="0">
                <a:solidFill>
                  <a:srgbClr val="F47B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20</a:t>
            </a:r>
            <a:endParaRPr lang="en-US" sz="15000" dirty="0"/>
          </a:p>
        </p:txBody>
      </p:sp>
      <p:sp>
        <p:nvSpPr>
          <p:cNvPr id="4" name="Text 2"/>
          <p:cNvSpPr/>
          <p:nvPr/>
        </p:nvSpPr>
        <p:spPr>
          <a:xfrm>
            <a:off x="914400" y="5029200"/>
            <a:ext cx="7438534" cy="876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7129"/>
              </a:lnSpc>
              <a:buNone/>
            </a:pPr>
            <a:r>
              <a:rPr lang="en-US" sz="6000" b="1" spc="-75" kern="0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Data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914400" y="5867400"/>
            <a:ext cx="7438534" cy="876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7129"/>
              </a:lnSpc>
              <a:buNone/>
            </a:pPr>
            <a:r>
              <a:rPr lang="en-US" sz="6000" b="1" spc="-75" kern="0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Quality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914400" y="7086600"/>
            <a:ext cx="7438534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Great Expectations · dbt test · data contract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6750829" y="9424988"/>
            <a:ext cx="698971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01/15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0" y="10172700"/>
            <a:ext cx="1219200" cy="114300"/>
          </a:xfrm>
          <a:prstGeom prst="rect">
            <a:avLst/>
          </a:prstGeom>
          <a:solidFill>
            <a:srgbClr val="8FA3BF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4325243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1FA7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DATA ENGINEER A–Z · #20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752600"/>
            <a:ext cx="6778697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Hôm nay mình nói gì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914400" y="3238500"/>
            <a:ext cx="647700" cy="647700"/>
          </a:xfrm>
          <a:prstGeom prst="ellipse">
            <a:avLst/>
          </a:prstGeom>
          <a:solidFill>
            <a:srgbClr val="F47B20"/>
          </a:solidFill>
          <a:ln/>
        </p:spPr>
      </p:sp>
      <p:sp>
        <p:nvSpPr>
          <p:cNvPr id="5" name="Text 3"/>
          <p:cNvSpPr/>
          <p:nvPr/>
        </p:nvSpPr>
        <p:spPr>
          <a:xfrm>
            <a:off x="876300" y="3238500"/>
            <a:ext cx="72390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1905000" y="3357563"/>
            <a:ext cx="8819026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Vì sao pipeline xanh mà số sai · 6 chiều chất lượng</a:t>
            </a:r>
            <a:endParaRPr lang="en-US" sz="2550" dirty="0"/>
          </a:p>
        </p:txBody>
      </p:sp>
      <p:sp>
        <p:nvSpPr>
          <p:cNvPr id="7" name="Shape 5"/>
          <p:cNvSpPr/>
          <p:nvPr/>
        </p:nvSpPr>
        <p:spPr>
          <a:xfrm>
            <a:off x="914400" y="4267200"/>
            <a:ext cx="647700" cy="647700"/>
          </a:xfrm>
          <a:prstGeom prst="ellipse">
            <a:avLst/>
          </a:prstGeom>
          <a:solidFill>
            <a:srgbClr val="F47B20"/>
          </a:solidFill>
          <a:ln/>
        </p:spPr>
      </p:sp>
      <p:sp>
        <p:nvSpPr>
          <p:cNvPr id="8" name="Text 6"/>
          <p:cNvSpPr/>
          <p:nvPr/>
        </p:nvSpPr>
        <p:spPr>
          <a:xfrm>
            <a:off x="876300" y="4267200"/>
            <a:ext cx="72390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1905000" y="4386263"/>
            <a:ext cx="5122679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Kiểm tra ở đâu trong pipeline</a:t>
            </a:r>
            <a:endParaRPr lang="en-US" sz="2550" dirty="0"/>
          </a:p>
        </p:txBody>
      </p:sp>
      <p:sp>
        <p:nvSpPr>
          <p:cNvPr id="10" name="Shape 8"/>
          <p:cNvSpPr/>
          <p:nvPr/>
        </p:nvSpPr>
        <p:spPr>
          <a:xfrm>
            <a:off x="914400" y="5295900"/>
            <a:ext cx="647700" cy="647700"/>
          </a:xfrm>
          <a:prstGeom prst="ellipse">
            <a:avLst/>
          </a:prstGeom>
          <a:solidFill>
            <a:srgbClr val="F47B20"/>
          </a:solidFill>
          <a:ln/>
        </p:spPr>
      </p:sp>
      <p:sp>
        <p:nvSpPr>
          <p:cNvPr id="11" name="Text 9"/>
          <p:cNvSpPr/>
          <p:nvPr/>
        </p:nvSpPr>
        <p:spPr>
          <a:xfrm>
            <a:off x="876300" y="5295900"/>
            <a:ext cx="72390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3</a:t>
            </a:r>
            <a:endParaRPr lang="en-US" sz="2250" dirty="0"/>
          </a:p>
        </p:txBody>
      </p:sp>
      <p:sp>
        <p:nvSpPr>
          <p:cNvPr id="12" name="Text 10"/>
          <p:cNvSpPr/>
          <p:nvPr/>
        </p:nvSpPr>
        <p:spPr>
          <a:xfrm>
            <a:off x="1905000" y="5414963"/>
            <a:ext cx="3471163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Great Expectations</a:t>
            </a:r>
            <a:endParaRPr lang="en-US" sz="2550" dirty="0"/>
          </a:p>
        </p:txBody>
      </p:sp>
      <p:sp>
        <p:nvSpPr>
          <p:cNvPr id="13" name="Shape 11"/>
          <p:cNvSpPr/>
          <p:nvPr/>
        </p:nvSpPr>
        <p:spPr>
          <a:xfrm>
            <a:off x="914400" y="6324600"/>
            <a:ext cx="647700" cy="647700"/>
          </a:xfrm>
          <a:prstGeom prst="ellipse">
            <a:avLst/>
          </a:prstGeom>
          <a:solidFill>
            <a:srgbClr val="F47B20"/>
          </a:solidFill>
          <a:ln/>
        </p:spPr>
      </p:sp>
      <p:sp>
        <p:nvSpPr>
          <p:cNvPr id="14" name="Text 12"/>
          <p:cNvSpPr/>
          <p:nvPr/>
        </p:nvSpPr>
        <p:spPr>
          <a:xfrm>
            <a:off x="876300" y="6324600"/>
            <a:ext cx="72390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4</a:t>
            </a:r>
            <a:endParaRPr lang="en-US" sz="2250" dirty="0"/>
          </a:p>
        </p:txBody>
      </p:sp>
      <p:sp>
        <p:nvSpPr>
          <p:cNvPr id="15" name="Text 13"/>
          <p:cNvSpPr/>
          <p:nvPr/>
        </p:nvSpPr>
        <p:spPr>
          <a:xfrm>
            <a:off x="1905000" y="6443663"/>
            <a:ext cx="2518283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Data contract</a:t>
            </a:r>
            <a:endParaRPr lang="en-US" sz="2550" dirty="0"/>
          </a:p>
        </p:txBody>
      </p:sp>
      <p:sp>
        <p:nvSpPr>
          <p:cNvPr id="16" name="Shape 14"/>
          <p:cNvSpPr/>
          <p:nvPr/>
        </p:nvSpPr>
        <p:spPr>
          <a:xfrm>
            <a:off x="914400" y="7353300"/>
            <a:ext cx="647700" cy="647700"/>
          </a:xfrm>
          <a:prstGeom prst="ellipse">
            <a:avLst/>
          </a:prstGeom>
          <a:solidFill>
            <a:srgbClr val="F47B20"/>
          </a:solidFill>
          <a:ln/>
        </p:spPr>
      </p:sp>
      <p:sp>
        <p:nvSpPr>
          <p:cNvPr id="17" name="Text 15"/>
          <p:cNvSpPr/>
          <p:nvPr/>
        </p:nvSpPr>
        <p:spPr>
          <a:xfrm>
            <a:off x="876300" y="7353300"/>
            <a:ext cx="72390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5</a:t>
            </a:r>
            <a:endParaRPr lang="en-US" sz="2250" dirty="0"/>
          </a:p>
        </p:txBody>
      </p:sp>
      <p:sp>
        <p:nvSpPr>
          <p:cNvPr id="18" name="Text 16"/>
          <p:cNvSpPr/>
          <p:nvPr/>
        </p:nvSpPr>
        <p:spPr>
          <a:xfrm>
            <a:off x="1905000" y="7472363"/>
            <a:ext cx="3951409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Circuit breaker &amp; alert</a:t>
            </a:r>
            <a:endParaRPr lang="en-US" sz="2550" dirty="0"/>
          </a:p>
        </p:txBody>
      </p:sp>
      <p:sp>
        <p:nvSpPr>
          <p:cNvPr id="19" name="Text 17"/>
          <p:cNvSpPr/>
          <p:nvPr/>
        </p:nvSpPr>
        <p:spPr>
          <a:xfrm>
            <a:off x="16694869" y="9424988"/>
            <a:ext cx="754931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02/15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0" y="10172700"/>
            <a:ext cx="2438400" cy="114300"/>
          </a:xfrm>
          <a:prstGeom prst="rect">
            <a:avLst/>
          </a:prstGeom>
          <a:solidFill>
            <a:srgbClr val="8FA3BF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4325243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1FA7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DATA ENGINEER A–Z · #20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752600"/>
            <a:ext cx="7051685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Pipeline xanh, số sai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914400" y="3271838"/>
            <a:ext cx="152400" cy="152400"/>
          </a:xfrm>
          <a:prstGeom prst="rect">
            <a:avLst/>
          </a:prstGeom>
          <a:solidFill>
            <a:srgbClr val="F47B20"/>
          </a:solidFill>
          <a:ln/>
        </p:spPr>
      </p:sp>
      <p:sp>
        <p:nvSpPr>
          <p:cNvPr id="5" name="Text 3"/>
          <p:cNvSpPr/>
          <p:nvPr/>
        </p:nvSpPr>
        <p:spPr>
          <a:xfrm>
            <a:off x="1371600" y="3143250"/>
            <a:ext cx="3741613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 đổi đơn vị tiền</a:t>
            </a:r>
            <a:endParaRPr lang="en-US" sz="2550" dirty="0"/>
          </a:p>
        </p:txBody>
      </p:sp>
      <p:sp>
        <p:nvSpPr>
          <p:cNvPr id="6" name="Shape 4"/>
          <p:cNvSpPr/>
          <p:nvPr/>
        </p:nvSpPr>
        <p:spPr>
          <a:xfrm>
            <a:off x="914400" y="4043363"/>
            <a:ext cx="152400" cy="152400"/>
          </a:xfrm>
          <a:prstGeom prst="rect">
            <a:avLst/>
          </a:prstGeom>
          <a:solidFill>
            <a:srgbClr val="F47B20"/>
          </a:solidFill>
          <a:ln/>
        </p:spPr>
      </p:sp>
      <p:sp>
        <p:nvSpPr>
          <p:cNvPr id="7" name="Text 5"/>
          <p:cNvSpPr/>
          <p:nvPr/>
        </p:nvSpPr>
        <p:spPr>
          <a:xfrm>
            <a:off x="1371600" y="3914775"/>
            <a:ext cx="3006633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Cột mới toàn null</a:t>
            </a:r>
            <a:endParaRPr lang="en-US" sz="2550" dirty="0"/>
          </a:p>
        </p:txBody>
      </p:sp>
      <p:sp>
        <p:nvSpPr>
          <p:cNvPr id="8" name="Shape 6"/>
          <p:cNvSpPr/>
          <p:nvPr/>
        </p:nvSpPr>
        <p:spPr>
          <a:xfrm>
            <a:off x="914400" y="4814888"/>
            <a:ext cx="152400" cy="152400"/>
          </a:xfrm>
          <a:prstGeom prst="rect">
            <a:avLst/>
          </a:prstGeom>
          <a:solidFill>
            <a:srgbClr val="F47B20"/>
          </a:solidFill>
          <a:ln/>
        </p:spPr>
      </p:sp>
      <p:sp>
        <p:nvSpPr>
          <p:cNvPr id="9" name="Text 7"/>
          <p:cNvSpPr/>
          <p:nvPr/>
        </p:nvSpPr>
        <p:spPr>
          <a:xfrm>
            <a:off x="1371600" y="4686300"/>
            <a:ext cx="5426608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Dữ liệu đến thiếu một cửa hàng</a:t>
            </a:r>
            <a:endParaRPr lang="en-US" sz="2550" dirty="0"/>
          </a:p>
        </p:txBody>
      </p:sp>
      <p:sp>
        <p:nvSpPr>
          <p:cNvPr id="10" name="Shape 8"/>
          <p:cNvSpPr/>
          <p:nvPr/>
        </p:nvSpPr>
        <p:spPr>
          <a:xfrm>
            <a:off x="914400" y="5586413"/>
            <a:ext cx="152400" cy="152400"/>
          </a:xfrm>
          <a:prstGeom prst="rect">
            <a:avLst/>
          </a:prstGeom>
          <a:solidFill>
            <a:srgbClr val="F47B20"/>
          </a:solidFill>
          <a:ln/>
        </p:spPr>
      </p:sp>
      <p:sp>
        <p:nvSpPr>
          <p:cNvPr id="11" name="Text 9"/>
          <p:cNvSpPr/>
          <p:nvPr/>
        </p:nvSpPr>
        <p:spPr>
          <a:xfrm>
            <a:off x="1371600" y="5457825"/>
            <a:ext cx="2520412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Trùng do retry</a:t>
            </a:r>
            <a:endParaRPr lang="en-US" sz="2550" dirty="0"/>
          </a:p>
        </p:txBody>
      </p:sp>
      <p:sp>
        <p:nvSpPr>
          <p:cNvPr id="12" name="Shape 10"/>
          <p:cNvSpPr/>
          <p:nvPr/>
        </p:nvSpPr>
        <p:spPr>
          <a:xfrm>
            <a:off x="914400" y="6357938"/>
            <a:ext cx="152400" cy="152400"/>
          </a:xfrm>
          <a:prstGeom prst="rect">
            <a:avLst/>
          </a:prstGeom>
          <a:solidFill>
            <a:srgbClr val="F47B20"/>
          </a:solidFill>
          <a:ln/>
        </p:spPr>
      </p:sp>
      <p:sp>
        <p:nvSpPr>
          <p:cNvPr id="13" name="Text 11"/>
          <p:cNvSpPr/>
          <p:nvPr/>
        </p:nvSpPr>
        <p:spPr>
          <a:xfrm>
            <a:off x="1371600" y="6229350"/>
            <a:ext cx="5386663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 test nào bắt → sếp bắt</a:t>
            </a:r>
            <a:endParaRPr lang="en-US" sz="2550" dirty="0"/>
          </a:p>
        </p:txBody>
      </p:sp>
      <p:sp>
        <p:nvSpPr>
          <p:cNvPr id="14" name="Text 12"/>
          <p:cNvSpPr/>
          <p:nvPr/>
        </p:nvSpPr>
        <p:spPr>
          <a:xfrm>
            <a:off x="16696655" y="9424988"/>
            <a:ext cx="753145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03/15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0" y="10172700"/>
            <a:ext cx="3657600" cy="114300"/>
          </a:xfrm>
          <a:prstGeom prst="rect">
            <a:avLst/>
          </a:prstGeom>
          <a:solidFill>
            <a:srgbClr val="8FA3BF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4325243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1FA7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DATA ENGINEER A–Z · #20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752600"/>
            <a:ext cx="6330784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6 chiều chất lượng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914400" y="3143250"/>
            <a:ext cx="5283175" cy="2286000"/>
          </a:xfrm>
          <a:prstGeom prst="rect">
            <a:avLst/>
          </a:prstGeom>
          <a:ln w="28575">
            <a:solidFill>
              <a:srgbClr val="1FA7A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47775" y="3839989"/>
            <a:ext cx="5078068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47B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Completeness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247775" y="4359101"/>
            <a:ext cx="5078068" cy="4114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423"/>
              </a:lnSpc>
              <a:buNone/>
            </a:pPr>
            <a:r>
              <a:rPr lang="en-US" sz="21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đủ dòng, không null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6502375" y="3143250"/>
            <a:ext cx="5283175" cy="2286000"/>
          </a:xfrm>
          <a:prstGeom prst="rect">
            <a:avLst/>
          </a:prstGeom>
          <a:ln w="28575">
            <a:solidFill>
              <a:srgbClr val="1FA7A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35750" y="3839989"/>
            <a:ext cx="5078068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47B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Uniqueness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6835750" y="4359101"/>
            <a:ext cx="5078068" cy="4114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423"/>
              </a:lnSpc>
              <a:buNone/>
            </a:pPr>
            <a:r>
              <a:rPr lang="en-US" sz="21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 trùng khoá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12090350" y="3143250"/>
            <a:ext cx="5283250" cy="2286000"/>
          </a:xfrm>
          <a:prstGeom prst="rect">
            <a:avLst/>
          </a:prstGeom>
          <a:ln w="28575">
            <a:solidFill>
              <a:srgbClr val="1FA7A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423725" y="3839989"/>
            <a:ext cx="5078150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47B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Validity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2423725" y="4359101"/>
            <a:ext cx="5078150" cy="4114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423"/>
              </a:lnSpc>
              <a:buNone/>
            </a:pPr>
            <a:r>
              <a:rPr lang="en-US" sz="21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đúng kiểu, đúng miền</a:t>
            </a:r>
            <a:endParaRPr lang="en-US" sz="2100" dirty="0"/>
          </a:p>
        </p:txBody>
      </p:sp>
      <p:sp>
        <p:nvSpPr>
          <p:cNvPr id="13" name="Shape 11"/>
          <p:cNvSpPr/>
          <p:nvPr/>
        </p:nvSpPr>
        <p:spPr>
          <a:xfrm>
            <a:off x="914400" y="5734050"/>
            <a:ext cx="5283175" cy="2286000"/>
          </a:xfrm>
          <a:prstGeom prst="rect">
            <a:avLst/>
          </a:prstGeom>
          <a:ln w="28575">
            <a:solidFill>
              <a:srgbClr val="1FA7A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47775" y="6430789"/>
            <a:ext cx="5078068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47B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Accuracy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1247775" y="6949901"/>
            <a:ext cx="5078068" cy="4114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423"/>
              </a:lnSpc>
              <a:buNone/>
            </a:pPr>
            <a:r>
              <a:rPr lang="en-US" sz="21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khớp thực tế</a:t>
            </a:r>
            <a:endParaRPr lang="en-US" sz="2100" dirty="0"/>
          </a:p>
        </p:txBody>
      </p:sp>
      <p:sp>
        <p:nvSpPr>
          <p:cNvPr id="16" name="Shape 14"/>
          <p:cNvSpPr/>
          <p:nvPr/>
        </p:nvSpPr>
        <p:spPr>
          <a:xfrm>
            <a:off x="6502375" y="5734050"/>
            <a:ext cx="5283175" cy="2286000"/>
          </a:xfrm>
          <a:prstGeom prst="rect">
            <a:avLst/>
          </a:prstGeom>
          <a:ln w="28575">
            <a:solidFill>
              <a:srgbClr val="1FA7A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35750" y="6430789"/>
            <a:ext cx="5078068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47B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Consistency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6835750" y="6949901"/>
            <a:ext cx="5078068" cy="4114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423"/>
              </a:lnSpc>
              <a:buNone/>
            </a:pPr>
            <a:r>
              <a:rPr lang="en-US" sz="21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khớp giữa bảng</a:t>
            </a:r>
            <a:endParaRPr lang="en-US" sz="2100" dirty="0"/>
          </a:p>
        </p:txBody>
      </p:sp>
      <p:sp>
        <p:nvSpPr>
          <p:cNvPr id="19" name="Shape 17"/>
          <p:cNvSpPr/>
          <p:nvPr/>
        </p:nvSpPr>
        <p:spPr>
          <a:xfrm>
            <a:off x="12090350" y="5734050"/>
            <a:ext cx="5283250" cy="2286000"/>
          </a:xfrm>
          <a:prstGeom prst="rect">
            <a:avLst/>
          </a:prstGeom>
          <a:ln w="28575">
            <a:solidFill>
              <a:srgbClr val="1FA7A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2423725" y="6430789"/>
            <a:ext cx="5078150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47B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Timeliness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12423725" y="6949901"/>
            <a:ext cx="5078150" cy="4114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423"/>
              </a:lnSpc>
              <a:buNone/>
            </a:pPr>
            <a:r>
              <a:rPr lang="en-US" sz="21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đến đúng giờ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16682070" y="9424988"/>
            <a:ext cx="767730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04/15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0" y="10172700"/>
            <a:ext cx="4876800" cy="114300"/>
          </a:xfrm>
          <a:prstGeom prst="rect">
            <a:avLst/>
          </a:prstGeom>
          <a:solidFill>
            <a:srgbClr val="8FA3BF"/>
          </a:solidFill>
          <a:ln/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4325243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1FA7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DATA ENGINEER A–Z · #20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752600"/>
            <a:ext cx="5583116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Kiểm tra ở 3 cửa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914400" y="3905250"/>
            <a:ext cx="1714500" cy="1143000"/>
          </a:xfrm>
          <a:prstGeom prst="rect">
            <a:avLst/>
          </a:prstGeom>
          <a:ln w="28575">
            <a:solidFill>
              <a:srgbClr val="1FA7A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04875" y="3933825"/>
            <a:ext cx="1733550" cy="1123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</a:t>
            </a:r>
            <a:endParaRPr lang="en-US" sz="19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628900" y="4333875"/>
            <a:ext cx="457200" cy="28575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086100" y="3429000"/>
            <a:ext cx="2190750" cy="2095500"/>
          </a:xfrm>
          <a:prstGeom prst="rect">
            <a:avLst/>
          </a:prstGeom>
          <a:solidFill>
            <a:srgbClr val="112A4D"/>
          </a:solidFill>
          <a:ln w="38100">
            <a:solidFill>
              <a:srgbClr val="F47B2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738339" y="3650977"/>
            <a:ext cx="886197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650" b="1" spc="300" kern="0" dirty="0">
                <a:solidFill>
                  <a:srgbClr val="F47B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CỬA 1</a:t>
            </a:r>
            <a:endParaRPr lang="en-US" sz="1650" dirty="0"/>
          </a:p>
        </p:txBody>
      </p:sp>
      <p:sp>
        <p:nvSpPr>
          <p:cNvPr id="9" name="Text 6"/>
          <p:cNvSpPr/>
          <p:nvPr/>
        </p:nvSpPr>
        <p:spPr>
          <a:xfrm>
            <a:off x="3444534" y="4012927"/>
            <a:ext cx="1473808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Sau ingest</a:t>
            </a:r>
            <a:endParaRPr lang="en-US" sz="1950" dirty="0"/>
          </a:p>
        </p:txBody>
      </p:sp>
      <p:sp>
        <p:nvSpPr>
          <p:cNvPr id="10" name="Text 7"/>
          <p:cNvSpPr/>
          <p:nvPr/>
        </p:nvSpPr>
        <p:spPr>
          <a:xfrm>
            <a:off x="3238500" y="4422502"/>
            <a:ext cx="1885950" cy="9181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650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schema số dòng vs hôm qua</a:t>
            </a:r>
            <a:endParaRPr lang="en-US" sz="165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76850" y="4333875"/>
            <a:ext cx="457200" cy="28575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5734050" y="3905250"/>
            <a:ext cx="1714500" cy="1143000"/>
          </a:xfrm>
          <a:prstGeom prst="rect">
            <a:avLst/>
          </a:prstGeom>
          <a:ln w="28575">
            <a:solidFill>
              <a:srgbClr val="1FA7A0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5724525" y="3933825"/>
            <a:ext cx="1733550" cy="1123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Transform</a:t>
            </a:r>
            <a:endParaRPr lang="en-US" sz="195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448550" y="4333875"/>
            <a:ext cx="457200" cy="285750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7905750" y="3429000"/>
            <a:ext cx="2190750" cy="2095500"/>
          </a:xfrm>
          <a:prstGeom prst="rect">
            <a:avLst/>
          </a:prstGeom>
          <a:solidFill>
            <a:srgbClr val="112A4D"/>
          </a:solidFill>
          <a:ln w="38100">
            <a:solidFill>
              <a:srgbClr val="F47B20"/>
            </a:solidFill>
            <a:prstDash val="solid"/>
          </a:ln>
        </p:spPr>
      </p:sp>
      <p:sp>
        <p:nvSpPr>
          <p:cNvPr id="16" name="Text 11"/>
          <p:cNvSpPr/>
          <p:nvPr/>
        </p:nvSpPr>
        <p:spPr>
          <a:xfrm>
            <a:off x="8533581" y="3493815"/>
            <a:ext cx="935013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650" b="1" spc="300" kern="0" dirty="0">
                <a:solidFill>
                  <a:srgbClr val="F47B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CỬA 2</a:t>
            </a:r>
            <a:endParaRPr lang="en-US" sz="1650" dirty="0"/>
          </a:p>
        </p:txBody>
      </p:sp>
      <p:sp>
        <p:nvSpPr>
          <p:cNvPr id="17" name="Text 12"/>
          <p:cNvSpPr/>
          <p:nvPr/>
        </p:nvSpPr>
        <p:spPr>
          <a:xfrm>
            <a:off x="8058150" y="3855765"/>
            <a:ext cx="1885950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Sau transform</a:t>
            </a:r>
            <a:endParaRPr lang="en-US" sz="1950" dirty="0"/>
          </a:p>
        </p:txBody>
      </p:sp>
      <p:sp>
        <p:nvSpPr>
          <p:cNvPr id="18" name="Text 13"/>
          <p:cNvSpPr/>
          <p:nvPr/>
        </p:nvSpPr>
        <p:spPr>
          <a:xfrm>
            <a:off x="8058150" y="4579665"/>
            <a:ext cx="1885950" cy="9181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650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dbt test unique, not_null, relationships</a:t>
            </a:r>
            <a:endParaRPr lang="en-US" sz="1650" dirty="0"/>
          </a:p>
        </p:txBody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096500" y="4333875"/>
            <a:ext cx="457200" cy="285750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10553700" y="3905250"/>
            <a:ext cx="1714500" cy="1143000"/>
          </a:xfrm>
          <a:prstGeom prst="rect">
            <a:avLst/>
          </a:prstGeom>
          <a:ln w="28575">
            <a:solidFill>
              <a:srgbClr val="1FA7A0"/>
            </a:solidFill>
            <a:prstDash val="solid"/>
          </a:ln>
        </p:spPr>
      </p:sp>
      <p:sp>
        <p:nvSpPr>
          <p:cNvPr id="21" name="Text 15"/>
          <p:cNvSpPr/>
          <p:nvPr/>
        </p:nvSpPr>
        <p:spPr>
          <a:xfrm>
            <a:off x="10544175" y="3933825"/>
            <a:ext cx="1733550" cy="1123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Gold staging</a:t>
            </a:r>
            <a:endParaRPr lang="en-US" sz="1950" dirty="0"/>
          </a:p>
        </p:txBody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2268200" y="4333875"/>
            <a:ext cx="457200" cy="285750"/>
          </a:xfrm>
          <a:prstGeom prst="rect">
            <a:avLst/>
          </a:prstGeom>
        </p:spPr>
      </p:pic>
      <p:sp>
        <p:nvSpPr>
          <p:cNvPr id="23" name="Shape 16"/>
          <p:cNvSpPr/>
          <p:nvPr/>
        </p:nvSpPr>
        <p:spPr>
          <a:xfrm>
            <a:off x="12725400" y="3429000"/>
            <a:ext cx="2190750" cy="2095500"/>
          </a:xfrm>
          <a:prstGeom prst="rect">
            <a:avLst/>
          </a:prstGeom>
          <a:solidFill>
            <a:srgbClr val="112A4D"/>
          </a:solidFill>
          <a:ln w="38100">
            <a:solidFill>
              <a:srgbClr val="F47B20"/>
            </a:solidFill>
            <a:prstDash val="solid"/>
          </a:ln>
        </p:spPr>
      </p:sp>
      <p:sp>
        <p:nvSpPr>
          <p:cNvPr id="24" name="Text 17"/>
          <p:cNvSpPr/>
          <p:nvPr/>
        </p:nvSpPr>
        <p:spPr>
          <a:xfrm>
            <a:off x="13351594" y="3650977"/>
            <a:ext cx="938361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650" b="1" spc="300" kern="0" dirty="0">
                <a:solidFill>
                  <a:srgbClr val="F47B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CỬA 3</a:t>
            </a:r>
            <a:endParaRPr lang="en-US" sz="1650" dirty="0"/>
          </a:p>
        </p:txBody>
      </p:sp>
      <p:sp>
        <p:nvSpPr>
          <p:cNvPr id="25" name="Text 18"/>
          <p:cNvSpPr/>
          <p:nvPr/>
        </p:nvSpPr>
        <p:spPr>
          <a:xfrm>
            <a:off x="12866590" y="4012927"/>
            <a:ext cx="1908297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Trước publish</a:t>
            </a:r>
            <a:endParaRPr lang="en-US" sz="1950" dirty="0"/>
          </a:p>
        </p:txBody>
      </p:sp>
      <p:sp>
        <p:nvSpPr>
          <p:cNvPr id="26" name="Text 19"/>
          <p:cNvSpPr/>
          <p:nvPr/>
        </p:nvSpPr>
        <p:spPr>
          <a:xfrm>
            <a:off x="12877800" y="4422502"/>
            <a:ext cx="1885950" cy="9181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650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nghiệp vụ: doanh thu ≥ 0 tổng khớp nguồn</a:t>
            </a:r>
            <a:endParaRPr lang="en-US" sz="1650" dirty="0"/>
          </a:p>
        </p:txBody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4916150" y="4333875"/>
            <a:ext cx="457200" cy="285750"/>
          </a:xfrm>
          <a:prstGeom prst="rect">
            <a:avLst/>
          </a:prstGeom>
        </p:spPr>
      </p:pic>
      <p:sp>
        <p:nvSpPr>
          <p:cNvPr id="28" name="Shape 20"/>
          <p:cNvSpPr/>
          <p:nvPr/>
        </p:nvSpPr>
        <p:spPr>
          <a:xfrm>
            <a:off x="15373350" y="3905250"/>
            <a:ext cx="1524000" cy="1143000"/>
          </a:xfrm>
          <a:prstGeom prst="rect">
            <a:avLst/>
          </a:prstGeom>
          <a:ln w="28575">
            <a:solidFill>
              <a:srgbClr val="1FA7A0"/>
            </a:solidFill>
            <a:prstDash val="solid"/>
          </a:ln>
        </p:spPr>
      </p:sp>
      <p:sp>
        <p:nvSpPr>
          <p:cNvPr id="29" name="Text 21"/>
          <p:cNvSpPr/>
          <p:nvPr/>
        </p:nvSpPr>
        <p:spPr>
          <a:xfrm>
            <a:off x="15363825" y="3933825"/>
            <a:ext cx="1543050" cy="1123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Gold · BI</a:t>
            </a:r>
            <a:endParaRPr lang="en-US" sz="1950" dirty="0"/>
          </a:p>
        </p:txBody>
      </p:sp>
      <p:sp>
        <p:nvSpPr>
          <p:cNvPr id="30" name="Text 22"/>
          <p:cNvSpPr/>
          <p:nvPr/>
        </p:nvSpPr>
        <p:spPr>
          <a:xfrm>
            <a:off x="91440" y="8520113"/>
            <a:ext cx="18105120" cy="471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Bắt càng sớm, sửa càng rẻ.</a:t>
            </a:r>
            <a:endParaRPr lang="en-US" sz="2700" dirty="0"/>
          </a:p>
        </p:txBody>
      </p:sp>
      <p:sp>
        <p:nvSpPr>
          <p:cNvPr id="31" name="Text 23"/>
          <p:cNvSpPr/>
          <p:nvPr/>
        </p:nvSpPr>
        <p:spPr>
          <a:xfrm>
            <a:off x="16691670" y="9424988"/>
            <a:ext cx="758130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05/15</a:t>
            </a:r>
            <a:endParaRPr lang="en-US" sz="1800" dirty="0"/>
          </a:p>
        </p:txBody>
      </p:sp>
      <p:sp>
        <p:nvSpPr>
          <p:cNvPr id="32" name="Shape 24"/>
          <p:cNvSpPr/>
          <p:nvPr/>
        </p:nvSpPr>
        <p:spPr>
          <a:xfrm>
            <a:off x="0" y="10172700"/>
            <a:ext cx="6096000" cy="114300"/>
          </a:xfrm>
          <a:prstGeom prst="rect">
            <a:avLst/>
          </a:prstGeom>
          <a:solidFill>
            <a:srgbClr val="8FA3BF"/>
          </a:solidFill>
          <a:ln/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4325243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1FA7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DATA ENGINEER A–Z · #20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752600"/>
            <a:ext cx="8664320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Great Expectations suite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914400" y="2628900"/>
            <a:ext cx="16459200" cy="5691932"/>
          </a:xfrm>
          <a:prstGeom prst="rect">
            <a:avLst/>
          </a:prstGeom>
          <a:solidFill>
            <a:srgbClr val="071527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2628900"/>
            <a:ext cx="57150" cy="5691932"/>
          </a:xfrm>
          <a:prstGeom prst="rect">
            <a:avLst/>
          </a:prstGeom>
          <a:solidFill>
            <a:srgbClr val="F47B20"/>
          </a:solidFill>
          <a:ln/>
        </p:spPr>
      </p:sp>
      <p:sp>
        <p:nvSpPr>
          <p:cNvPr id="6" name="Text 4"/>
          <p:cNvSpPr/>
          <p:nvPr/>
        </p:nvSpPr>
        <p:spPr>
          <a:xfrm>
            <a:off x="1352550" y="2800350"/>
            <a:ext cx="16132112" cy="38479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98378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import great_expectations as gx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352550" y="3185145"/>
            <a:ext cx="16132112" cy="38479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98378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1352550" y="3569940"/>
            <a:ext cx="16132112" cy="38479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98378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batch = ctx.data_sources.get("lake").get_asset("silver_pos").get_batch(day=ds)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1352550" y="3954735"/>
            <a:ext cx="16132112" cy="38479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98378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yesterday = row_count("silver_pos", day=ds_minus_1)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1352550" y="4339530"/>
            <a:ext cx="16132112" cy="38479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98378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1352550" y="4724326"/>
            <a:ext cx="16132112" cy="38479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98378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suite = gx.ExpectationSuite("silver_pos_daily")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1352550" y="5109121"/>
            <a:ext cx="16132112" cy="38479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98378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suite.add(gx.expectations.ExpectColumnValuesToNotBeNull(column="store_id"))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1352550" y="5493916"/>
            <a:ext cx="16132112" cy="38479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98378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suite.add(gx.expectations.ExpectColumnValuesToBeUnique(column="sale_id"))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1352550" y="5878711"/>
            <a:ext cx="16132112" cy="38479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98378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suite.add(gx.expectations.ExpectColumnValuesToBeBetween(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1352550" y="6263506"/>
            <a:ext cx="16132112" cy="38479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98378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column="amount", min_value=0, max_value=5_000_000))</a:t>
            </a:r>
            <a:endParaRPr lang="en-US" sz="2100" dirty="0"/>
          </a:p>
        </p:txBody>
      </p:sp>
      <p:sp>
        <p:nvSpPr>
          <p:cNvPr id="16" name="Shape 14"/>
          <p:cNvSpPr/>
          <p:nvPr/>
        </p:nvSpPr>
        <p:spPr>
          <a:xfrm>
            <a:off x="971550" y="6629251"/>
            <a:ext cx="16402050" cy="384795"/>
          </a:xfrm>
          <a:prstGeom prst="rect">
            <a:avLst/>
          </a:prstGeom>
          <a:solidFill>
            <a:srgbClr val="1A355E"/>
          </a:solidFill>
          <a:ln/>
        </p:spPr>
      </p:sp>
      <p:sp>
        <p:nvSpPr>
          <p:cNvPr id="17" name="Text 15"/>
          <p:cNvSpPr/>
          <p:nvPr/>
        </p:nvSpPr>
        <p:spPr>
          <a:xfrm>
            <a:off x="1352550" y="6648301"/>
            <a:ext cx="16132112" cy="38479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98378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suite.add(gx.expectations.ExpectTableRowCountToBeBetween(</a:t>
            </a:r>
            <a:endParaRPr lang="en-US" sz="2100" dirty="0"/>
          </a:p>
        </p:txBody>
      </p:sp>
      <p:sp>
        <p:nvSpPr>
          <p:cNvPr id="18" name="Shape 16"/>
          <p:cNvSpPr/>
          <p:nvPr/>
        </p:nvSpPr>
        <p:spPr>
          <a:xfrm>
            <a:off x="971550" y="7014046"/>
            <a:ext cx="16402050" cy="384795"/>
          </a:xfrm>
          <a:prstGeom prst="rect">
            <a:avLst/>
          </a:prstGeom>
          <a:solidFill>
            <a:srgbClr val="1A355E"/>
          </a:solidFill>
          <a:ln/>
        </p:spPr>
      </p:sp>
      <p:sp>
        <p:nvSpPr>
          <p:cNvPr id="19" name="Text 17"/>
          <p:cNvSpPr/>
          <p:nvPr/>
        </p:nvSpPr>
        <p:spPr>
          <a:xfrm>
            <a:off x="1352550" y="7033096"/>
            <a:ext cx="16132112" cy="38479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98378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min_value=int(yesterday * 0.7), max_value=int(yesterday * 1.5)))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1352550" y="7417891"/>
            <a:ext cx="16132112" cy="38479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98378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endParaRPr lang="en-US" sz="2100" dirty="0"/>
          </a:p>
        </p:txBody>
      </p:sp>
      <p:sp>
        <p:nvSpPr>
          <p:cNvPr id="21" name="Text 19"/>
          <p:cNvSpPr/>
          <p:nvPr/>
        </p:nvSpPr>
        <p:spPr>
          <a:xfrm>
            <a:off x="1352550" y="7802687"/>
            <a:ext cx="16132112" cy="38479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98378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result = batch.validate(suite); assert result.success, result.describe()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914400" y="8710613"/>
            <a:ext cx="8696734" cy="376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Kiểm tra tương đối với hôm qua bắt được sự cố thiếu dữ liệu.</a:t>
            </a:r>
            <a:endParaRPr lang="en-US" sz="2100" dirty="0"/>
          </a:p>
        </p:txBody>
      </p:sp>
      <p:sp>
        <p:nvSpPr>
          <p:cNvPr id="23" name="Text 21"/>
          <p:cNvSpPr/>
          <p:nvPr/>
        </p:nvSpPr>
        <p:spPr>
          <a:xfrm>
            <a:off x="16687279" y="9424988"/>
            <a:ext cx="762521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06/15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0" y="10172700"/>
            <a:ext cx="7315200" cy="114300"/>
          </a:xfrm>
          <a:prstGeom prst="rect">
            <a:avLst/>
          </a:prstGeom>
          <a:solidFill>
            <a:srgbClr val="8FA3BF"/>
          </a:solidFill>
          <a:ln/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4325243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1FA7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DATA ENGINEER A–Z · #20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752600"/>
            <a:ext cx="13474965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dbt test vs Great Expectations vs Soda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914400" y="3238500"/>
            <a:ext cx="3238500" cy="1047750"/>
          </a:xfrm>
          <a:prstGeom prst="rect">
            <a:avLst/>
          </a:prstGeom>
          <a:solidFill>
            <a:srgbClr val="1FA7A0"/>
          </a:solidFill>
          <a:ln/>
        </p:spPr>
      </p:sp>
      <p:sp>
        <p:nvSpPr>
          <p:cNvPr id="5" name="Shape 3"/>
          <p:cNvSpPr/>
          <p:nvPr/>
        </p:nvSpPr>
        <p:spPr>
          <a:xfrm>
            <a:off x="4229100" y="3238500"/>
            <a:ext cx="4330675" cy="1047750"/>
          </a:xfrm>
          <a:prstGeom prst="rect">
            <a:avLst/>
          </a:prstGeom>
          <a:solidFill>
            <a:srgbClr val="1FA7A0"/>
          </a:solidFill>
          <a:ln/>
        </p:spPr>
      </p:sp>
      <p:sp>
        <p:nvSpPr>
          <p:cNvPr id="6" name="Text 4"/>
          <p:cNvSpPr/>
          <p:nvPr/>
        </p:nvSpPr>
        <p:spPr>
          <a:xfrm>
            <a:off x="4495800" y="3390900"/>
            <a:ext cx="3927195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2632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dbt test</a:t>
            </a:r>
            <a:endParaRPr lang="en-US" sz="2250" dirty="0"/>
          </a:p>
        </p:txBody>
      </p:sp>
      <p:sp>
        <p:nvSpPr>
          <p:cNvPr id="7" name="Shape 5"/>
          <p:cNvSpPr/>
          <p:nvPr/>
        </p:nvSpPr>
        <p:spPr>
          <a:xfrm>
            <a:off x="8635975" y="3238500"/>
            <a:ext cx="4330675" cy="1047750"/>
          </a:xfrm>
          <a:prstGeom prst="rect">
            <a:avLst/>
          </a:prstGeom>
          <a:solidFill>
            <a:srgbClr val="1FA7A0"/>
          </a:solidFill>
          <a:ln/>
        </p:spPr>
      </p:sp>
      <p:sp>
        <p:nvSpPr>
          <p:cNvPr id="8" name="Text 6"/>
          <p:cNvSpPr/>
          <p:nvPr/>
        </p:nvSpPr>
        <p:spPr>
          <a:xfrm>
            <a:off x="8902675" y="3390900"/>
            <a:ext cx="3927195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2632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Great Expectations</a:t>
            </a:r>
            <a:endParaRPr lang="en-US" sz="2250" dirty="0"/>
          </a:p>
        </p:txBody>
      </p:sp>
      <p:sp>
        <p:nvSpPr>
          <p:cNvPr id="9" name="Shape 7"/>
          <p:cNvSpPr/>
          <p:nvPr/>
        </p:nvSpPr>
        <p:spPr>
          <a:xfrm>
            <a:off x="13042850" y="3238500"/>
            <a:ext cx="4330675" cy="1047750"/>
          </a:xfrm>
          <a:prstGeom prst="rect">
            <a:avLst/>
          </a:prstGeom>
          <a:solidFill>
            <a:srgbClr val="1FA7A0"/>
          </a:solidFill>
          <a:ln/>
        </p:spPr>
      </p:sp>
      <p:sp>
        <p:nvSpPr>
          <p:cNvPr id="10" name="Text 8"/>
          <p:cNvSpPr/>
          <p:nvPr/>
        </p:nvSpPr>
        <p:spPr>
          <a:xfrm>
            <a:off x="13309550" y="3390900"/>
            <a:ext cx="3927195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2632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Soda</a:t>
            </a:r>
            <a:endParaRPr lang="en-US" sz="2250" dirty="0"/>
          </a:p>
        </p:txBody>
      </p:sp>
      <p:sp>
        <p:nvSpPr>
          <p:cNvPr id="11" name="Text 9"/>
          <p:cNvSpPr/>
          <p:nvPr/>
        </p:nvSpPr>
        <p:spPr>
          <a:xfrm>
            <a:off x="1181100" y="4514850"/>
            <a:ext cx="2802255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2535"/>
              </a:lnSpc>
              <a:buNone/>
            </a:pPr>
            <a:r>
              <a:rPr lang="en-US" sz="21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Chạy ở đâu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4229100" y="4362450"/>
            <a:ext cx="4330675" cy="1047750"/>
          </a:xfrm>
          <a:prstGeom prst="rect">
            <a:avLst/>
          </a:prstGeom>
          <a:ln w="19050">
            <a:solidFill>
              <a:srgbClr val="1FA7A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14850" y="4533900"/>
            <a:ext cx="3889095" cy="742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2535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Trong dbt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8635975" y="4362450"/>
            <a:ext cx="4330675" cy="1047750"/>
          </a:xfrm>
          <a:prstGeom prst="rect">
            <a:avLst/>
          </a:prstGeom>
          <a:ln w="19050">
            <a:solidFill>
              <a:srgbClr val="1FA7A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921725" y="4533900"/>
            <a:ext cx="3889095" cy="742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2535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Python, mọi nơi</a:t>
            </a:r>
            <a:endParaRPr lang="en-US" sz="2100" dirty="0"/>
          </a:p>
        </p:txBody>
      </p:sp>
      <p:sp>
        <p:nvSpPr>
          <p:cNvPr id="16" name="Shape 14"/>
          <p:cNvSpPr/>
          <p:nvPr/>
        </p:nvSpPr>
        <p:spPr>
          <a:xfrm>
            <a:off x="13042850" y="4362450"/>
            <a:ext cx="4330675" cy="1047750"/>
          </a:xfrm>
          <a:prstGeom prst="rect">
            <a:avLst/>
          </a:prstGeom>
          <a:ln w="19050">
            <a:solidFill>
              <a:srgbClr val="1FA7A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3328600" y="4533900"/>
            <a:ext cx="3889095" cy="742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2535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YAML, CLI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1181100" y="5638800"/>
            <a:ext cx="2802255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2535"/>
              </a:lnSpc>
              <a:buNone/>
            </a:pPr>
            <a:r>
              <a:rPr lang="en-US" sz="21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Điểm mạnh</a:t>
            </a:r>
            <a:endParaRPr lang="en-US" sz="2100" dirty="0"/>
          </a:p>
        </p:txBody>
      </p:sp>
      <p:sp>
        <p:nvSpPr>
          <p:cNvPr id="19" name="Shape 17"/>
          <p:cNvSpPr/>
          <p:nvPr/>
        </p:nvSpPr>
        <p:spPr>
          <a:xfrm>
            <a:off x="4229100" y="5486400"/>
            <a:ext cx="4330675" cy="1047750"/>
          </a:xfrm>
          <a:prstGeom prst="rect">
            <a:avLst/>
          </a:prstGeom>
          <a:ln w="19050">
            <a:solidFill>
              <a:srgbClr val="1FA7A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14850" y="5657850"/>
            <a:ext cx="3889095" cy="742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2535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Gần SQL, dễ</a:t>
            </a:r>
            <a:endParaRPr lang="en-US" sz="2100" dirty="0"/>
          </a:p>
        </p:txBody>
      </p:sp>
      <p:sp>
        <p:nvSpPr>
          <p:cNvPr id="21" name="Shape 19"/>
          <p:cNvSpPr/>
          <p:nvPr/>
        </p:nvSpPr>
        <p:spPr>
          <a:xfrm>
            <a:off x="8635975" y="5486400"/>
            <a:ext cx="4330675" cy="1047750"/>
          </a:xfrm>
          <a:prstGeom prst="rect">
            <a:avLst/>
          </a:prstGeom>
          <a:ln w="19050">
            <a:solidFill>
              <a:srgbClr val="1FA7A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921725" y="5657850"/>
            <a:ext cx="3889095" cy="742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2535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Phong phú, data docs</a:t>
            </a:r>
            <a:endParaRPr lang="en-US" sz="2100" dirty="0"/>
          </a:p>
        </p:txBody>
      </p:sp>
      <p:sp>
        <p:nvSpPr>
          <p:cNvPr id="23" name="Shape 21"/>
          <p:cNvSpPr/>
          <p:nvPr/>
        </p:nvSpPr>
        <p:spPr>
          <a:xfrm>
            <a:off x="13042850" y="5486400"/>
            <a:ext cx="4330675" cy="1047750"/>
          </a:xfrm>
          <a:prstGeom prst="rect">
            <a:avLst/>
          </a:prstGeom>
          <a:ln w="19050">
            <a:solidFill>
              <a:srgbClr val="1FA7A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3328600" y="5657850"/>
            <a:ext cx="3889095" cy="742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2535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Đơn giản, SaaS</a:t>
            </a:r>
            <a:endParaRPr lang="en-US" sz="2100" dirty="0"/>
          </a:p>
        </p:txBody>
      </p:sp>
      <p:sp>
        <p:nvSpPr>
          <p:cNvPr id="25" name="Text 23"/>
          <p:cNvSpPr/>
          <p:nvPr/>
        </p:nvSpPr>
        <p:spPr>
          <a:xfrm>
            <a:off x="1181100" y="6762750"/>
            <a:ext cx="2802255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2535"/>
              </a:lnSpc>
              <a:buNone/>
            </a:pPr>
            <a:r>
              <a:rPr lang="en-US" sz="21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Dùng trong series</a:t>
            </a:r>
            <a:endParaRPr lang="en-US" sz="2100" dirty="0"/>
          </a:p>
        </p:txBody>
      </p:sp>
      <p:sp>
        <p:nvSpPr>
          <p:cNvPr id="26" name="Shape 24"/>
          <p:cNvSpPr/>
          <p:nvPr/>
        </p:nvSpPr>
        <p:spPr>
          <a:xfrm>
            <a:off x="4229100" y="6610350"/>
            <a:ext cx="4330675" cy="1047750"/>
          </a:xfrm>
          <a:prstGeom prst="rect">
            <a:avLst/>
          </a:prstGeom>
          <a:solidFill>
            <a:srgbClr val="112A4D"/>
          </a:solidFill>
          <a:ln w="28575">
            <a:solidFill>
              <a:srgbClr val="F47B2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24375" y="6791325"/>
            <a:ext cx="3870045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2535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Gold · cửa 2</a:t>
            </a:r>
            <a:endParaRPr lang="en-US" sz="2100" dirty="0"/>
          </a:p>
        </p:txBody>
      </p:sp>
      <p:sp>
        <p:nvSpPr>
          <p:cNvPr id="28" name="Shape 26"/>
          <p:cNvSpPr/>
          <p:nvPr/>
        </p:nvSpPr>
        <p:spPr>
          <a:xfrm>
            <a:off x="8635975" y="6610350"/>
            <a:ext cx="4330675" cy="1047750"/>
          </a:xfrm>
          <a:prstGeom prst="rect">
            <a:avLst/>
          </a:prstGeom>
          <a:solidFill>
            <a:srgbClr val="112A4D"/>
          </a:solidFill>
          <a:ln w="28575">
            <a:solidFill>
              <a:srgbClr val="F47B2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931250" y="6791325"/>
            <a:ext cx="3870045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2535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Silver · cửa 1, 3</a:t>
            </a:r>
            <a:endParaRPr lang="en-US" sz="2100" dirty="0"/>
          </a:p>
        </p:txBody>
      </p:sp>
      <p:sp>
        <p:nvSpPr>
          <p:cNvPr id="30" name="Shape 28"/>
          <p:cNvSpPr/>
          <p:nvPr/>
        </p:nvSpPr>
        <p:spPr>
          <a:xfrm>
            <a:off x="13042850" y="6610350"/>
            <a:ext cx="4330675" cy="1047750"/>
          </a:xfrm>
          <a:prstGeom prst="rect">
            <a:avLst/>
          </a:prstGeom>
          <a:ln w="19050">
            <a:solidFill>
              <a:srgbClr val="1FA7A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3328600" y="6781800"/>
            <a:ext cx="3889095" cy="742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2535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Nhắc đến</a:t>
            </a:r>
            <a:endParaRPr lang="en-US" sz="2100" dirty="0"/>
          </a:p>
        </p:txBody>
      </p:sp>
      <p:sp>
        <p:nvSpPr>
          <p:cNvPr id="32" name="Text 30"/>
          <p:cNvSpPr/>
          <p:nvPr/>
        </p:nvSpPr>
        <p:spPr>
          <a:xfrm>
            <a:off x="16721807" y="9424988"/>
            <a:ext cx="727993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07/15</a:t>
            </a:r>
            <a:endParaRPr lang="en-US" sz="1800" dirty="0"/>
          </a:p>
        </p:txBody>
      </p:sp>
      <p:sp>
        <p:nvSpPr>
          <p:cNvPr id="33" name="Shape 31"/>
          <p:cNvSpPr/>
          <p:nvPr/>
        </p:nvSpPr>
        <p:spPr>
          <a:xfrm>
            <a:off x="0" y="10172700"/>
            <a:ext cx="8534400" cy="114300"/>
          </a:xfrm>
          <a:prstGeom prst="rect">
            <a:avLst/>
          </a:prstGeom>
          <a:solidFill>
            <a:srgbClr val="8FA3BF"/>
          </a:solidFill>
          <a:ln/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4325243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1FA7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DATA ENGINEER A–Z · #20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752600"/>
            <a:ext cx="4913866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Data contract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914400" y="3271838"/>
            <a:ext cx="152400" cy="152400"/>
          </a:xfrm>
          <a:prstGeom prst="rect">
            <a:avLst/>
          </a:prstGeom>
          <a:solidFill>
            <a:srgbClr val="F47B20"/>
          </a:solidFill>
          <a:ln/>
        </p:spPr>
      </p:sp>
      <p:sp>
        <p:nvSpPr>
          <p:cNvPr id="5" name="Text 3"/>
          <p:cNvSpPr/>
          <p:nvPr/>
        </p:nvSpPr>
        <p:spPr>
          <a:xfrm>
            <a:off x="1371600" y="3143250"/>
            <a:ext cx="7850758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Thoả thuận giữa đội tạo dữ liệu và đội dùng</a:t>
            </a:r>
            <a:endParaRPr lang="en-US" sz="2550" dirty="0"/>
          </a:p>
        </p:txBody>
      </p:sp>
      <p:sp>
        <p:nvSpPr>
          <p:cNvPr id="6" name="Shape 4"/>
          <p:cNvSpPr/>
          <p:nvPr/>
        </p:nvSpPr>
        <p:spPr>
          <a:xfrm>
            <a:off x="914400" y="4043363"/>
            <a:ext cx="152400" cy="152400"/>
          </a:xfrm>
          <a:prstGeom prst="rect">
            <a:avLst/>
          </a:prstGeom>
          <a:solidFill>
            <a:srgbClr val="F47B20"/>
          </a:solidFill>
          <a:ln/>
        </p:spPr>
      </p:sp>
      <p:sp>
        <p:nvSpPr>
          <p:cNvPr id="7" name="Text 5"/>
          <p:cNvSpPr/>
          <p:nvPr/>
        </p:nvSpPr>
        <p:spPr>
          <a:xfrm>
            <a:off x="1371600" y="3914775"/>
            <a:ext cx="5733976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Schema + ý nghĩa + SLA + owner</a:t>
            </a:r>
            <a:endParaRPr lang="en-US" sz="2550" dirty="0"/>
          </a:p>
        </p:txBody>
      </p:sp>
      <p:sp>
        <p:nvSpPr>
          <p:cNvPr id="8" name="Shape 6"/>
          <p:cNvSpPr/>
          <p:nvPr/>
        </p:nvSpPr>
        <p:spPr>
          <a:xfrm>
            <a:off x="914400" y="4814888"/>
            <a:ext cx="152400" cy="152400"/>
          </a:xfrm>
          <a:prstGeom prst="rect">
            <a:avLst/>
          </a:prstGeom>
          <a:solidFill>
            <a:srgbClr val="F47B20"/>
          </a:solidFill>
          <a:ln/>
        </p:spPr>
      </p:sp>
      <p:sp>
        <p:nvSpPr>
          <p:cNvPr id="9" name="Text 7"/>
          <p:cNvSpPr/>
          <p:nvPr/>
        </p:nvSpPr>
        <p:spPr>
          <a:xfrm>
            <a:off x="1371600" y="4686300"/>
            <a:ext cx="6720416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Viết thành file YAML trong repo nguồn</a:t>
            </a:r>
            <a:endParaRPr lang="en-US" sz="2550" dirty="0"/>
          </a:p>
        </p:txBody>
      </p:sp>
      <p:sp>
        <p:nvSpPr>
          <p:cNvPr id="10" name="Shape 8"/>
          <p:cNvSpPr/>
          <p:nvPr/>
        </p:nvSpPr>
        <p:spPr>
          <a:xfrm>
            <a:off x="914400" y="5586413"/>
            <a:ext cx="152400" cy="152400"/>
          </a:xfrm>
          <a:prstGeom prst="rect">
            <a:avLst/>
          </a:prstGeom>
          <a:solidFill>
            <a:srgbClr val="F47B20"/>
          </a:solidFill>
          <a:ln/>
        </p:spPr>
      </p:sp>
      <p:sp>
        <p:nvSpPr>
          <p:cNvPr id="11" name="Text 9"/>
          <p:cNvSpPr/>
          <p:nvPr/>
        </p:nvSpPr>
        <p:spPr>
          <a:xfrm>
            <a:off x="1371600" y="5457825"/>
            <a:ext cx="9627677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CI của backend chạy kiểm tra contract khi đổi schema</a:t>
            </a:r>
            <a:endParaRPr lang="en-US" sz="2550" dirty="0"/>
          </a:p>
        </p:txBody>
      </p:sp>
      <p:sp>
        <p:nvSpPr>
          <p:cNvPr id="12" name="Shape 10"/>
          <p:cNvSpPr/>
          <p:nvPr/>
        </p:nvSpPr>
        <p:spPr>
          <a:xfrm>
            <a:off x="914400" y="6357938"/>
            <a:ext cx="152400" cy="152400"/>
          </a:xfrm>
          <a:prstGeom prst="rect">
            <a:avLst/>
          </a:prstGeom>
          <a:solidFill>
            <a:srgbClr val="8FA3BF"/>
          </a:solidFill>
          <a:ln/>
        </p:spPr>
      </p:sp>
      <p:sp>
        <p:nvSpPr>
          <p:cNvPr id="13" name="Text 11"/>
          <p:cNvSpPr/>
          <p:nvPr/>
        </p:nvSpPr>
        <p:spPr>
          <a:xfrm>
            <a:off x="1371600" y="6229350"/>
            <a:ext cx="4855175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Video 16 đã thấy vì sao cần</a:t>
            </a:r>
            <a:endParaRPr lang="en-US" sz="2550" dirty="0"/>
          </a:p>
        </p:txBody>
      </p:sp>
      <p:sp>
        <p:nvSpPr>
          <p:cNvPr id="14" name="Text 12"/>
          <p:cNvSpPr/>
          <p:nvPr/>
        </p:nvSpPr>
        <p:spPr>
          <a:xfrm>
            <a:off x="16695762" y="9424988"/>
            <a:ext cx="754038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08/15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0" y="10172700"/>
            <a:ext cx="9753600" cy="114300"/>
          </a:xfrm>
          <a:prstGeom prst="rect">
            <a:avLst/>
          </a:prstGeom>
          <a:solidFill>
            <a:srgbClr val="8FA3BF"/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4325243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1FA7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DATA ENGINEER A–Z · #20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752600"/>
            <a:ext cx="7991140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contracts/orders.yaml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914400" y="2628900"/>
            <a:ext cx="16459200" cy="5691932"/>
          </a:xfrm>
          <a:prstGeom prst="rect">
            <a:avLst/>
          </a:prstGeom>
          <a:solidFill>
            <a:srgbClr val="071527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2628900"/>
            <a:ext cx="57150" cy="5691932"/>
          </a:xfrm>
          <a:prstGeom prst="rect">
            <a:avLst/>
          </a:prstGeom>
          <a:solidFill>
            <a:srgbClr val="F47B20"/>
          </a:solidFill>
          <a:ln/>
        </p:spPr>
      </p:sp>
      <p:sp>
        <p:nvSpPr>
          <p:cNvPr id="6" name="Text 4"/>
          <p:cNvSpPr/>
          <p:nvPr/>
        </p:nvSpPr>
        <p:spPr>
          <a:xfrm>
            <a:off x="1352550" y="2800350"/>
            <a:ext cx="16132112" cy="38479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98378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table: public.orders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352550" y="3185145"/>
            <a:ext cx="16132112" cy="38479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98378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owner: backend-team          </a:t>
            </a:r>
            <a:pPr algn="l" indent="0" marL="0">
              <a:lnSpc>
                <a:spcPct val="98378"/>
              </a:lnSpc>
              <a:buNone/>
            </a:pPr>
            <a:r>
              <a:rPr lang="en-US" sz="2100" dirty="0">
                <a:solidFill>
                  <a:srgbClr val="8FA3B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 ai chịu trách nhiệm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1352550" y="3569940"/>
            <a:ext cx="16132112" cy="38479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98378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fields: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1352550" y="3954735"/>
            <a:ext cx="16132112" cy="38479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98378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- {name: order_id,  type: bigint,    required: true, description: "khoá chính"}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1352550" y="4339530"/>
            <a:ext cx="16132112" cy="38479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98378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- {name: store_id,  type: string,    required: true, description: "mã cửa hàng"}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1352550" y="4724326"/>
            <a:ext cx="16132112" cy="38479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98378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- {name: amount,    type: decimal,   required: true, description: "VND, sau giảm giá"}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1352550" y="5109121"/>
            <a:ext cx="16132112" cy="38479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98378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- {name: status,    type: string,    enum: [pending, paid, cancelled]}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1352550" y="5493916"/>
            <a:ext cx="16132112" cy="38479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98378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- {name: updated_at, type: timestamp, required: true}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971550" y="5859661"/>
            <a:ext cx="16402050" cy="384795"/>
          </a:xfrm>
          <a:prstGeom prst="rect">
            <a:avLst/>
          </a:prstGeom>
          <a:solidFill>
            <a:srgbClr val="1A355E"/>
          </a:solidFill>
          <a:ln/>
        </p:spPr>
      </p:sp>
      <p:sp>
        <p:nvSpPr>
          <p:cNvPr id="15" name="Text 13"/>
          <p:cNvSpPr/>
          <p:nvPr/>
        </p:nvSpPr>
        <p:spPr>
          <a:xfrm>
            <a:off x="1352550" y="5878711"/>
            <a:ext cx="16132112" cy="38479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98378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sla:</a:t>
            </a:r>
            <a:endParaRPr lang="en-US" sz="2100" dirty="0"/>
          </a:p>
        </p:txBody>
      </p:sp>
      <p:sp>
        <p:nvSpPr>
          <p:cNvPr id="16" name="Shape 14"/>
          <p:cNvSpPr/>
          <p:nvPr/>
        </p:nvSpPr>
        <p:spPr>
          <a:xfrm>
            <a:off x="971550" y="6244456"/>
            <a:ext cx="16402050" cy="384795"/>
          </a:xfrm>
          <a:prstGeom prst="rect">
            <a:avLst/>
          </a:prstGeom>
          <a:solidFill>
            <a:srgbClr val="1A355E"/>
          </a:solidFill>
          <a:ln/>
        </p:spPr>
      </p:sp>
      <p:sp>
        <p:nvSpPr>
          <p:cNvPr id="17" name="Text 15"/>
          <p:cNvSpPr/>
          <p:nvPr/>
        </p:nvSpPr>
        <p:spPr>
          <a:xfrm>
            <a:off x="1352550" y="6263506"/>
            <a:ext cx="16132112" cy="38479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98378"/>
              </a:lnSpc>
              <a:buNone/>
            </a:pPr>
            <a:r>
              <a:rPr lang="en-US" sz="2100" dirty="0">
                <a:solidFill>
                  <a:srgbClr val="FFFFFF"/>
                </a:solidFill>
                <a:highlight>
                  <a:srgbClr val="1A355E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freshness: 15m             </a:t>
            </a:r>
            <a:pPr algn="l" indent="0" marL="0">
              <a:lnSpc>
                <a:spcPct val="98378"/>
              </a:lnSpc>
              <a:buNone/>
            </a:pPr>
            <a:r>
              <a:rPr lang="en-US" sz="2100" dirty="0">
                <a:solidFill>
                  <a:srgbClr val="8FA3B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 dữ liệu không trễ quá 15 phút</a:t>
            </a:r>
            <a:endParaRPr lang="en-US" sz="2100" dirty="0"/>
          </a:p>
        </p:txBody>
      </p:sp>
      <p:sp>
        <p:nvSpPr>
          <p:cNvPr id="18" name="Shape 16"/>
          <p:cNvSpPr/>
          <p:nvPr/>
        </p:nvSpPr>
        <p:spPr>
          <a:xfrm>
            <a:off x="971550" y="6629251"/>
            <a:ext cx="16402050" cy="384795"/>
          </a:xfrm>
          <a:prstGeom prst="rect">
            <a:avLst/>
          </a:prstGeom>
          <a:solidFill>
            <a:srgbClr val="1A355E"/>
          </a:solidFill>
          <a:ln/>
        </p:spPr>
      </p:sp>
      <p:sp>
        <p:nvSpPr>
          <p:cNvPr id="19" name="Text 17"/>
          <p:cNvSpPr/>
          <p:nvPr/>
        </p:nvSpPr>
        <p:spPr>
          <a:xfrm>
            <a:off x="1352550" y="6648301"/>
            <a:ext cx="16132112" cy="38479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98378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availability: "99.5%"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1352550" y="7033096"/>
            <a:ext cx="16132112" cy="38479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98378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breaking_changes:</a:t>
            </a:r>
            <a:endParaRPr lang="en-US" sz="2100" dirty="0"/>
          </a:p>
        </p:txBody>
      </p:sp>
      <p:sp>
        <p:nvSpPr>
          <p:cNvPr id="21" name="Text 19"/>
          <p:cNvSpPr/>
          <p:nvPr/>
        </p:nvSpPr>
        <p:spPr>
          <a:xfrm>
            <a:off x="1352550" y="7417891"/>
            <a:ext cx="16132112" cy="38479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98378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policy: notify-30-days     </a:t>
            </a:r>
            <a:pPr algn="l" indent="0" marL="0">
              <a:lnSpc>
                <a:spcPct val="98378"/>
              </a:lnSpc>
              <a:buNone/>
            </a:pPr>
            <a:r>
              <a:rPr lang="en-US" sz="2100" dirty="0">
                <a:solidFill>
                  <a:srgbClr val="8FA3B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 xoá/đổi kiểu cột phải báo trước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1352550" y="7802687"/>
            <a:ext cx="16132112" cy="38479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98378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allowed: [add_nullable_column]</a:t>
            </a:r>
            <a:endParaRPr lang="en-US" sz="2100" dirty="0"/>
          </a:p>
        </p:txBody>
      </p:sp>
      <p:sp>
        <p:nvSpPr>
          <p:cNvPr id="23" name="Text 21"/>
          <p:cNvSpPr/>
          <p:nvPr/>
        </p:nvSpPr>
        <p:spPr>
          <a:xfrm>
            <a:off x="914400" y="8710613"/>
            <a:ext cx="8631577" cy="376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Sống trong repo backend, CI của họ chạy khi đổi migration.</a:t>
            </a:r>
            <a:endParaRPr lang="en-US" sz="2100" dirty="0"/>
          </a:p>
        </p:txBody>
      </p:sp>
      <p:sp>
        <p:nvSpPr>
          <p:cNvPr id="24" name="Text 22"/>
          <p:cNvSpPr/>
          <p:nvPr/>
        </p:nvSpPr>
        <p:spPr>
          <a:xfrm>
            <a:off x="16687279" y="9424988"/>
            <a:ext cx="762521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09/15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0" y="10172700"/>
            <a:ext cx="10972800" cy="114300"/>
          </a:xfrm>
          <a:prstGeom prst="rect">
            <a:avLst/>
          </a:prstGeom>
          <a:solidFill>
            <a:srgbClr val="8FA3BF"/>
          </a:solidFill>
          <a:ln/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4325243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1FA7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DATA ENGINEER A–Z · #20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752600"/>
            <a:ext cx="12414773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Schema validation vs Data contract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914400" y="3048000"/>
            <a:ext cx="3429000" cy="952500"/>
          </a:xfrm>
          <a:prstGeom prst="rect">
            <a:avLst/>
          </a:prstGeom>
          <a:solidFill>
            <a:srgbClr val="1FA7A0"/>
          </a:solidFill>
          <a:ln/>
        </p:spPr>
      </p:sp>
      <p:sp>
        <p:nvSpPr>
          <p:cNvPr id="5" name="Shape 3"/>
          <p:cNvSpPr/>
          <p:nvPr/>
        </p:nvSpPr>
        <p:spPr>
          <a:xfrm>
            <a:off x="4419600" y="3048000"/>
            <a:ext cx="6438900" cy="952500"/>
          </a:xfrm>
          <a:prstGeom prst="rect">
            <a:avLst/>
          </a:prstGeom>
          <a:solidFill>
            <a:srgbClr val="1FA7A0"/>
          </a:solidFill>
          <a:ln/>
        </p:spPr>
      </p:sp>
      <p:sp>
        <p:nvSpPr>
          <p:cNvPr id="6" name="Text 4"/>
          <p:cNvSpPr/>
          <p:nvPr/>
        </p:nvSpPr>
        <p:spPr>
          <a:xfrm>
            <a:off x="4724400" y="3200400"/>
            <a:ext cx="6022467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2632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Schema validation</a:t>
            </a:r>
            <a:endParaRPr lang="en-US" sz="2250" dirty="0"/>
          </a:p>
        </p:txBody>
      </p:sp>
      <p:sp>
        <p:nvSpPr>
          <p:cNvPr id="7" name="Shape 5"/>
          <p:cNvSpPr/>
          <p:nvPr/>
        </p:nvSpPr>
        <p:spPr>
          <a:xfrm>
            <a:off x="10934700" y="3048000"/>
            <a:ext cx="6438900" cy="952500"/>
          </a:xfrm>
          <a:prstGeom prst="rect">
            <a:avLst/>
          </a:prstGeom>
          <a:solidFill>
            <a:srgbClr val="1FA7A0"/>
          </a:solidFill>
          <a:ln/>
        </p:spPr>
      </p:sp>
      <p:sp>
        <p:nvSpPr>
          <p:cNvPr id="8" name="Text 6"/>
          <p:cNvSpPr/>
          <p:nvPr/>
        </p:nvSpPr>
        <p:spPr>
          <a:xfrm>
            <a:off x="11239500" y="3200400"/>
            <a:ext cx="6022467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2632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Data contract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1219200" y="4229100"/>
            <a:ext cx="292227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2535"/>
              </a:lnSpc>
              <a:buNone/>
            </a:pPr>
            <a:r>
              <a:rPr lang="en-US" sz="21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Kiểm tra gì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4419600" y="4076700"/>
            <a:ext cx="6438900" cy="952500"/>
          </a:xfrm>
          <a:prstGeom prst="rect">
            <a:avLst/>
          </a:prstGeom>
          <a:ln w="19050">
            <a:solidFill>
              <a:srgbClr val="1FA7A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43450" y="4248150"/>
            <a:ext cx="5984367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2535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Kiểu, cột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10934700" y="4076700"/>
            <a:ext cx="6438900" cy="952500"/>
          </a:xfrm>
          <a:prstGeom prst="rect">
            <a:avLst/>
          </a:prstGeom>
          <a:solidFill>
            <a:srgbClr val="112A4D"/>
          </a:solidFill>
          <a:ln w="28575">
            <a:solidFill>
              <a:srgbClr val="F47B2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268075" y="4257675"/>
            <a:ext cx="5965317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2535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Kiểu + ngữ nghĩa + SLA + trách nhiệm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1219200" y="5257800"/>
            <a:ext cx="292227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2535"/>
              </a:lnSpc>
              <a:buNone/>
            </a:pPr>
            <a:r>
              <a:rPr lang="en-US" sz="21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Ai sở hữu</a:t>
            </a:r>
            <a:endParaRPr lang="en-US" sz="2100" dirty="0"/>
          </a:p>
        </p:txBody>
      </p:sp>
      <p:sp>
        <p:nvSpPr>
          <p:cNvPr id="15" name="Shape 13"/>
          <p:cNvSpPr/>
          <p:nvPr/>
        </p:nvSpPr>
        <p:spPr>
          <a:xfrm>
            <a:off x="4419600" y="5105400"/>
            <a:ext cx="6438900" cy="952500"/>
          </a:xfrm>
          <a:prstGeom prst="rect">
            <a:avLst/>
          </a:prstGeom>
          <a:ln w="19050">
            <a:solidFill>
              <a:srgbClr val="1FA7A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43450" y="5276850"/>
            <a:ext cx="5984367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2535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Consumer (DE)</a:t>
            </a:r>
            <a:endParaRPr lang="en-US" sz="2100" dirty="0"/>
          </a:p>
        </p:txBody>
      </p:sp>
      <p:sp>
        <p:nvSpPr>
          <p:cNvPr id="17" name="Shape 15"/>
          <p:cNvSpPr/>
          <p:nvPr/>
        </p:nvSpPr>
        <p:spPr>
          <a:xfrm>
            <a:off x="10934700" y="5105400"/>
            <a:ext cx="6438900" cy="952500"/>
          </a:xfrm>
          <a:prstGeom prst="rect">
            <a:avLst/>
          </a:prstGeom>
          <a:solidFill>
            <a:srgbClr val="112A4D"/>
          </a:solidFill>
          <a:ln w="28575">
            <a:solidFill>
              <a:srgbClr val="F47B2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268075" y="5286375"/>
            <a:ext cx="5965317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2535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Producer (backend)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1219200" y="6286500"/>
            <a:ext cx="292227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2535"/>
              </a:lnSpc>
              <a:buNone/>
            </a:pPr>
            <a:r>
              <a:rPr lang="en-US" sz="21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Khi nào chạy</a:t>
            </a:r>
            <a:endParaRPr lang="en-US" sz="2100" dirty="0"/>
          </a:p>
        </p:txBody>
      </p:sp>
      <p:sp>
        <p:nvSpPr>
          <p:cNvPr id="20" name="Shape 18"/>
          <p:cNvSpPr/>
          <p:nvPr/>
        </p:nvSpPr>
        <p:spPr>
          <a:xfrm>
            <a:off x="4419600" y="6134100"/>
            <a:ext cx="6438900" cy="952500"/>
          </a:xfrm>
          <a:prstGeom prst="rect">
            <a:avLst/>
          </a:prstGeom>
          <a:ln w="19050">
            <a:solidFill>
              <a:srgbClr val="1FA7A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43450" y="6305550"/>
            <a:ext cx="5984367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2535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Lúc đọc, đã quá muộn</a:t>
            </a:r>
            <a:endParaRPr lang="en-US" sz="2100" dirty="0"/>
          </a:p>
        </p:txBody>
      </p:sp>
      <p:sp>
        <p:nvSpPr>
          <p:cNvPr id="22" name="Shape 20"/>
          <p:cNvSpPr/>
          <p:nvPr/>
        </p:nvSpPr>
        <p:spPr>
          <a:xfrm>
            <a:off x="10934700" y="6134100"/>
            <a:ext cx="6438900" cy="952500"/>
          </a:xfrm>
          <a:prstGeom prst="rect">
            <a:avLst/>
          </a:prstGeom>
          <a:solidFill>
            <a:srgbClr val="112A4D"/>
          </a:solidFill>
          <a:ln w="28575">
            <a:solidFill>
              <a:srgbClr val="F47B2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1268075" y="6315075"/>
            <a:ext cx="5965317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2535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Lúc producer thay đổi, trong CI</a:t>
            </a:r>
            <a:endParaRPr lang="en-US" sz="2100" dirty="0"/>
          </a:p>
        </p:txBody>
      </p:sp>
      <p:sp>
        <p:nvSpPr>
          <p:cNvPr id="24" name="Text 22"/>
          <p:cNvSpPr/>
          <p:nvPr/>
        </p:nvSpPr>
        <p:spPr>
          <a:xfrm>
            <a:off x="1219200" y="7315200"/>
            <a:ext cx="292227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2535"/>
              </a:lnSpc>
              <a:buNone/>
            </a:pPr>
            <a:r>
              <a:rPr lang="en-US" sz="21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Ngăn được gì</a:t>
            </a:r>
            <a:endParaRPr lang="en-US" sz="2100" dirty="0"/>
          </a:p>
        </p:txBody>
      </p:sp>
      <p:sp>
        <p:nvSpPr>
          <p:cNvPr id="25" name="Shape 23"/>
          <p:cNvSpPr/>
          <p:nvPr/>
        </p:nvSpPr>
        <p:spPr>
          <a:xfrm>
            <a:off x="4419600" y="7162800"/>
            <a:ext cx="6438900" cy="952500"/>
          </a:xfrm>
          <a:prstGeom prst="rect">
            <a:avLst/>
          </a:prstGeom>
          <a:ln w="19050">
            <a:solidFill>
              <a:srgbClr val="1FA7A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43450" y="7334250"/>
            <a:ext cx="5984367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2535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Pipeline đọc file sai kiểu</a:t>
            </a:r>
            <a:endParaRPr lang="en-US" sz="2100" dirty="0"/>
          </a:p>
        </p:txBody>
      </p:sp>
      <p:sp>
        <p:nvSpPr>
          <p:cNvPr id="27" name="Shape 25"/>
          <p:cNvSpPr/>
          <p:nvPr/>
        </p:nvSpPr>
        <p:spPr>
          <a:xfrm>
            <a:off x="10934700" y="7162800"/>
            <a:ext cx="6438900" cy="952500"/>
          </a:xfrm>
          <a:prstGeom prst="rect">
            <a:avLst/>
          </a:prstGeom>
          <a:solidFill>
            <a:srgbClr val="112A4D"/>
          </a:solidFill>
          <a:ln w="28575">
            <a:solidFill>
              <a:srgbClr val="F47B2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1268075" y="7343775"/>
            <a:ext cx="5965317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2535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Schema vỡ trước khi tới pipeline</a:t>
            </a:r>
            <a:endParaRPr lang="en-US" sz="2100" dirty="0"/>
          </a:p>
        </p:txBody>
      </p:sp>
      <p:sp>
        <p:nvSpPr>
          <p:cNvPr id="29" name="Text 27"/>
          <p:cNvSpPr/>
          <p:nvPr/>
        </p:nvSpPr>
        <p:spPr>
          <a:xfrm>
            <a:off x="16750829" y="9424988"/>
            <a:ext cx="698971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10/15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0" y="10172700"/>
            <a:ext cx="12192000" cy="114300"/>
          </a:xfrm>
          <a:prstGeom prst="rect">
            <a:avLst/>
          </a:prstGeom>
          <a:solidFill>
            <a:srgbClr val="8FA3BF"/>
          </a:solidFill>
          <a:ln/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4325243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1FA7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DATA ENGINEER A–Z · #20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752600"/>
            <a:ext cx="9008358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Circuit breaker trong DAG</a:t>
            </a:r>
            <a:endParaRPr lang="en-US" sz="48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4400" y="3048000"/>
            <a:ext cx="16459200" cy="47625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914400" y="4953000"/>
            <a:ext cx="2667000" cy="952500"/>
          </a:xfrm>
          <a:prstGeom prst="rect">
            <a:avLst/>
          </a:prstGeom>
          <a:ln w="28575">
            <a:solidFill>
              <a:srgbClr val="1FA7A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902970" y="4981575"/>
            <a:ext cx="2689860" cy="933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dbt_gold</a:t>
            </a:r>
            <a:endParaRPr lang="en-US" sz="1950" dirty="0"/>
          </a:p>
        </p:txBody>
      </p:sp>
      <p:sp>
        <p:nvSpPr>
          <p:cNvPr id="7" name="Shape 4"/>
          <p:cNvSpPr/>
          <p:nvPr/>
        </p:nvSpPr>
        <p:spPr>
          <a:xfrm>
            <a:off x="4686300" y="4667250"/>
            <a:ext cx="2895600" cy="1524000"/>
          </a:xfrm>
          <a:prstGeom prst="rect">
            <a:avLst/>
          </a:prstGeom>
          <a:solidFill>
            <a:srgbClr val="112A4D"/>
          </a:solidFill>
          <a:ln w="38100">
            <a:solidFill>
              <a:srgbClr val="F47B2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989924" y="5081588"/>
            <a:ext cx="2288351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quality_check</a:t>
            </a:r>
            <a:endParaRPr lang="en-US" sz="2100" dirty="0"/>
          </a:p>
        </p:txBody>
      </p:sp>
      <p:sp>
        <p:nvSpPr>
          <p:cNvPr id="9" name="Text 6"/>
          <p:cNvSpPr/>
          <p:nvPr/>
        </p:nvSpPr>
        <p:spPr>
          <a:xfrm>
            <a:off x="5257677" y="5510213"/>
            <a:ext cx="1752771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650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GE suite · cửa 3</a:t>
            </a:r>
            <a:endParaRPr lang="en-US" sz="1650" dirty="0"/>
          </a:p>
        </p:txBody>
      </p:sp>
      <p:sp>
        <p:nvSpPr>
          <p:cNvPr id="10" name="Shape 7"/>
          <p:cNvSpPr/>
          <p:nvPr/>
        </p:nvSpPr>
        <p:spPr>
          <a:xfrm>
            <a:off x="8648700" y="3429000"/>
            <a:ext cx="5715000" cy="1143000"/>
          </a:xfrm>
          <a:prstGeom prst="rect">
            <a:avLst/>
          </a:prstGeom>
          <a:ln w="28575">
            <a:solidFill>
              <a:srgbClr val="1FA7A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943975" y="3855244"/>
            <a:ext cx="844228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1FA7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PASS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9940603" y="3686175"/>
            <a:ext cx="4251657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publish_gold · swap bảng staging → gold</a:t>
            </a:r>
            <a:endParaRPr lang="en-US" sz="1950" dirty="0"/>
          </a:p>
        </p:txBody>
      </p:sp>
      <p:sp>
        <p:nvSpPr>
          <p:cNvPr id="13" name="Shape 10"/>
          <p:cNvSpPr/>
          <p:nvPr/>
        </p:nvSpPr>
        <p:spPr>
          <a:xfrm>
            <a:off x="8648700" y="6191250"/>
            <a:ext cx="2933700" cy="1143000"/>
          </a:xfrm>
          <a:prstGeom prst="rect">
            <a:avLst/>
          </a:prstGeom>
          <a:ln w="28575">
            <a:solidFill>
              <a:srgbClr val="F47B2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9742884" y="6281738"/>
            <a:ext cx="745257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spc="300" kern="0" dirty="0">
                <a:solidFill>
                  <a:srgbClr val="F47B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FAIL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9311975" y="6629400"/>
            <a:ext cx="1607150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dừng publish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8890174" y="6977063"/>
            <a:ext cx="2450753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650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gold giữ bản hôm qua</a:t>
            </a:r>
            <a:endParaRPr lang="en-US" sz="1650" dirty="0"/>
          </a:p>
        </p:txBody>
      </p:sp>
      <p:sp>
        <p:nvSpPr>
          <p:cNvPr id="17" name="Shape 14"/>
          <p:cNvSpPr/>
          <p:nvPr/>
        </p:nvSpPr>
        <p:spPr>
          <a:xfrm>
            <a:off x="12496800" y="6000750"/>
            <a:ext cx="4876800" cy="1524000"/>
          </a:xfrm>
          <a:prstGeom prst="rect">
            <a:avLst/>
          </a:prstGeom>
          <a:ln w="28575">
            <a:solidFill>
              <a:srgbClr val="F47B2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2792075" y="6111701"/>
            <a:ext cx="4714875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alert · Slack</a:t>
            </a:r>
            <a:endParaRPr lang="en-US" sz="1950" dirty="0"/>
          </a:p>
        </p:txBody>
      </p:sp>
      <p:sp>
        <p:nvSpPr>
          <p:cNvPr id="19" name="Text 16"/>
          <p:cNvSpPr/>
          <p:nvPr/>
        </p:nvSpPr>
        <p:spPr>
          <a:xfrm>
            <a:off x="12792075" y="6502226"/>
            <a:ext cx="4414838" cy="94959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50" dirty="0">
                <a:solidFill>
                  <a:srgbClr val="8FA3B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amount &lt; 0: 312 dòng row_count 41% hôm qua store HN07 thiếu</a:t>
            </a:r>
            <a:endParaRPr lang="en-US" sz="1650" dirty="0"/>
          </a:p>
        </p:txBody>
      </p:sp>
      <p:sp>
        <p:nvSpPr>
          <p:cNvPr id="20" name="Text 17"/>
          <p:cNvSpPr/>
          <p:nvPr/>
        </p:nvSpPr>
        <p:spPr>
          <a:xfrm>
            <a:off x="91440" y="8520113"/>
            <a:ext cx="18105120" cy="471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Thà báo cáo cũ còn hơn báo cáo sai.</a:t>
            </a:r>
            <a:endParaRPr lang="en-US" sz="2700" dirty="0"/>
          </a:p>
        </p:txBody>
      </p:sp>
      <p:sp>
        <p:nvSpPr>
          <p:cNvPr id="21" name="Text 18"/>
          <p:cNvSpPr/>
          <p:nvPr/>
        </p:nvSpPr>
        <p:spPr>
          <a:xfrm>
            <a:off x="16814155" y="9424988"/>
            <a:ext cx="635645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11/15</a:t>
            </a:r>
            <a:endParaRPr lang="en-US" sz="1800" dirty="0"/>
          </a:p>
        </p:txBody>
      </p:sp>
      <p:sp>
        <p:nvSpPr>
          <p:cNvPr id="22" name="Shape 19"/>
          <p:cNvSpPr/>
          <p:nvPr/>
        </p:nvSpPr>
        <p:spPr>
          <a:xfrm>
            <a:off x="0" y="10172700"/>
            <a:ext cx="13411200" cy="114300"/>
          </a:xfrm>
          <a:prstGeom prst="rect">
            <a:avLst/>
          </a:prstGeom>
          <a:solidFill>
            <a:srgbClr val="8FA3BF"/>
          </a:solidFill>
          <a:ln/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4325243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1FA7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DATA ENGINEER A–Z · #20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752600"/>
            <a:ext cx="4018039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Lỗi hay gặp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914400" y="3048000"/>
            <a:ext cx="8801100" cy="4114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423"/>
              </a:lnSpc>
              <a:buNone/>
            </a:pPr>
            <a:r>
              <a:rPr lang="en-US" sz="2100" b="1" spc="300" kern="0" dirty="0">
                <a:solidFill>
                  <a:srgbClr val="F47B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SAI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9372600" y="3048000"/>
            <a:ext cx="8801100" cy="4114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423"/>
              </a:lnSpc>
              <a:buNone/>
            </a:pPr>
            <a:r>
              <a:rPr lang="en-US" sz="2100" b="1" spc="300" kern="0" dirty="0">
                <a:solidFill>
                  <a:srgbClr val="1FA7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ĐÚNG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914400" y="3802335"/>
            <a:ext cx="8801100" cy="464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617"/>
              </a:lnSpc>
              <a:buNone/>
            </a:pPr>
            <a:r>
              <a:rPr lang="en-US" sz="2400" b="1" strike="sngStrike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Test chỉ not_null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9372600" y="3802335"/>
            <a:ext cx="8801100" cy="464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617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Thêm kiểm tra tương đối: volume, phân phối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4610026"/>
            <a:ext cx="8801100" cy="464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617"/>
              </a:lnSpc>
              <a:buNone/>
            </a:pPr>
            <a:r>
              <a:rPr lang="en-US" sz="2400" b="1" strike="sngStrike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Alert mọi thứ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9372600" y="4610026"/>
            <a:ext cx="8801100" cy="464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617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Severity warn vs error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914400" y="5417716"/>
            <a:ext cx="8801100" cy="464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617"/>
              </a:lnSpc>
              <a:buNone/>
            </a:pPr>
            <a:r>
              <a:rPr lang="en-US" sz="2400" b="1" strike="sngStrike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Test ở gold rồi mới biết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9372600" y="5417716"/>
            <a:ext cx="8801100" cy="464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617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3 cửa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914400" y="6225406"/>
            <a:ext cx="8801100" cy="464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617"/>
              </a:lnSpc>
              <a:buNone/>
            </a:pPr>
            <a:r>
              <a:rPr lang="en-US" sz="2400" b="1" strike="sngStrike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Contract chỉ là tài liệu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9372600" y="6225406"/>
            <a:ext cx="8801100" cy="464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617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Chạy trong CI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6758196" y="9424988"/>
            <a:ext cx="691604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12/15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0" y="10172700"/>
            <a:ext cx="14630400" cy="114300"/>
          </a:xfrm>
          <a:prstGeom prst="rect">
            <a:avLst/>
          </a:prstGeom>
          <a:solidFill>
            <a:srgbClr val="8FA3BF"/>
          </a:solidFill>
          <a:ln/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4325243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1FA7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DATA ENGINEER A–Z · #20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752600"/>
            <a:ext cx="9583720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Lab #20 — Chặn dữ liệu bẩn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914400" y="3048000"/>
            <a:ext cx="552450" cy="552450"/>
          </a:xfrm>
          <a:prstGeom prst="ellipse">
            <a:avLst/>
          </a:prstGeom>
          <a:solidFill>
            <a:srgbClr val="F47B20"/>
          </a:solidFill>
          <a:ln/>
        </p:spPr>
      </p:sp>
      <p:sp>
        <p:nvSpPr>
          <p:cNvPr id="5" name="Text 3"/>
          <p:cNvSpPr/>
          <p:nvPr/>
        </p:nvSpPr>
        <p:spPr>
          <a:xfrm>
            <a:off x="876300" y="3048000"/>
            <a:ext cx="628650" cy="590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1733550" y="3131344"/>
            <a:ext cx="8106474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6579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Thêm GE suite vào task quality_check của DAG #19</a:t>
            </a:r>
            <a:endParaRPr lang="en-US" sz="2250" dirty="0"/>
          </a:p>
        </p:txBody>
      </p:sp>
      <p:sp>
        <p:nvSpPr>
          <p:cNvPr id="7" name="Shape 5"/>
          <p:cNvSpPr/>
          <p:nvPr/>
        </p:nvSpPr>
        <p:spPr>
          <a:xfrm>
            <a:off x="914400" y="3848100"/>
            <a:ext cx="552450" cy="552450"/>
          </a:xfrm>
          <a:prstGeom prst="ellipse">
            <a:avLst/>
          </a:prstGeom>
          <a:solidFill>
            <a:srgbClr val="F47B20"/>
          </a:solidFill>
          <a:ln/>
        </p:spPr>
      </p:sp>
      <p:sp>
        <p:nvSpPr>
          <p:cNvPr id="8" name="Text 6"/>
          <p:cNvSpPr/>
          <p:nvPr/>
        </p:nvSpPr>
        <p:spPr>
          <a:xfrm>
            <a:off x="876300" y="3848100"/>
            <a:ext cx="628650" cy="590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1733550" y="3931444"/>
            <a:ext cx="10425604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6579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Bơm dữ liệu lỗi: </a:t>
            </a:r>
            <a:pPr algn="l" indent="0" marL="0">
              <a:lnSpc>
                <a:spcPct val="106579"/>
              </a:lnSpc>
              <a:buNone/>
            </a:pPr>
            <a:r>
              <a:rPr lang="en-US" sz="1800" b="1" dirty="0">
                <a:solidFill>
                  <a:srgbClr val="1FA7A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coffeegen pos --corrupt amount-negative,store-missing</a:t>
            </a:r>
            <a:endParaRPr lang="en-US" sz="2250" dirty="0"/>
          </a:p>
        </p:txBody>
      </p:sp>
      <p:sp>
        <p:nvSpPr>
          <p:cNvPr id="10" name="Shape 8"/>
          <p:cNvSpPr/>
          <p:nvPr/>
        </p:nvSpPr>
        <p:spPr>
          <a:xfrm>
            <a:off x="914400" y="4648200"/>
            <a:ext cx="552450" cy="552450"/>
          </a:xfrm>
          <a:prstGeom prst="ellipse">
            <a:avLst/>
          </a:prstGeom>
          <a:solidFill>
            <a:srgbClr val="F47B20"/>
          </a:solidFill>
          <a:ln/>
        </p:spPr>
      </p:sp>
      <p:sp>
        <p:nvSpPr>
          <p:cNvPr id="11" name="Text 9"/>
          <p:cNvSpPr/>
          <p:nvPr/>
        </p:nvSpPr>
        <p:spPr>
          <a:xfrm>
            <a:off x="876300" y="4648200"/>
            <a:ext cx="628650" cy="590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3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1733550" y="4731544"/>
            <a:ext cx="6407564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6579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Xem DAG dừng đúng cửa, gold giữ bản cũ</a:t>
            </a:r>
            <a:endParaRPr lang="en-US" sz="2250" dirty="0"/>
          </a:p>
        </p:txBody>
      </p:sp>
      <p:sp>
        <p:nvSpPr>
          <p:cNvPr id="13" name="Shape 11"/>
          <p:cNvSpPr/>
          <p:nvPr/>
        </p:nvSpPr>
        <p:spPr>
          <a:xfrm>
            <a:off x="914400" y="5448300"/>
            <a:ext cx="552450" cy="552450"/>
          </a:xfrm>
          <a:prstGeom prst="ellipse">
            <a:avLst/>
          </a:prstGeom>
          <a:solidFill>
            <a:srgbClr val="F47B20"/>
          </a:solidFill>
          <a:ln/>
        </p:spPr>
      </p:sp>
      <p:sp>
        <p:nvSpPr>
          <p:cNvPr id="14" name="Text 12"/>
          <p:cNvSpPr/>
          <p:nvPr/>
        </p:nvSpPr>
        <p:spPr>
          <a:xfrm>
            <a:off x="876300" y="5448300"/>
            <a:ext cx="628650" cy="590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4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1733550" y="5531644"/>
            <a:ext cx="10686477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6579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Viết contract YAML cho orders, thêm script kiểm tra vào CI của repo</a:t>
            </a:r>
            <a:endParaRPr lang="en-US" sz="2250" dirty="0"/>
          </a:p>
        </p:txBody>
      </p:sp>
      <p:sp>
        <p:nvSpPr>
          <p:cNvPr id="16" name="Shape 14"/>
          <p:cNvSpPr/>
          <p:nvPr/>
        </p:nvSpPr>
        <p:spPr>
          <a:xfrm>
            <a:off x="914400" y="6248400"/>
            <a:ext cx="552450" cy="552450"/>
          </a:xfrm>
          <a:prstGeom prst="ellipse">
            <a:avLst/>
          </a:prstGeom>
          <a:solidFill>
            <a:srgbClr val="F47B20"/>
          </a:solidFill>
          <a:ln/>
        </p:spPr>
      </p:sp>
      <p:sp>
        <p:nvSpPr>
          <p:cNvPr id="17" name="Text 15"/>
          <p:cNvSpPr/>
          <p:nvPr/>
        </p:nvSpPr>
        <p:spPr>
          <a:xfrm>
            <a:off x="876300" y="6248400"/>
            <a:ext cx="628650" cy="590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5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1733550" y="6331744"/>
            <a:ext cx="5788328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6579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Đổi schema phá hợp đồng, xem CI đỏ</a:t>
            </a:r>
            <a:endParaRPr lang="en-US" sz="2250" dirty="0"/>
          </a:p>
        </p:txBody>
      </p:sp>
      <p:sp>
        <p:nvSpPr>
          <p:cNvPr id="19" name="Shape 17"/>
          <p:cNvSpPr/>
          <p:nvPr/>
        </p:nvSpPr>
        <p:spPr>
          <a:xfrm>
            <a:off x="12420600" y="3048000"/>
            <a:ext cx="4953000" cy="2938463"/>
          </a:xfrm>
          <a:prstGeom prst="rect">
            <a:avLst/>
          </a:prstGeom>
          <a:ln w="28575">
            <a:solidFill>
              <a:srgbClr val="1FA7A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2830175" y="3457575"/>
            <a:ext cx="4547235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1FA7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KẾT QUẢ MONG ĐỢI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2830175" y="3976687"/>
            <a:ext cx="4257866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519"/>
              </a:lnSpc>
              <a:buNone/>
            </a:pPr>
            <a:r>
              <a:rPr lang="en-US" sz="2400" b="1" dirty="0">
                <a:solidFill>
                  <a:srgbClr val="F47B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 lỗi </a:t>
            </a:r>
            <a:pPr algn="l" indent="0" marL="0">
              <a:lnSpc>
                <a:spcPct val="118519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bị chặn ở 2 cửa khác nhau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12830175" y="5119688"/>
            <a:ext cx="4547235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519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CI đỏ khi phá contract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16759982" y="9424988"/>
            <a:ext cx="689818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13/15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0" y="10172700"/>
            <a:ext cx="15849600" cy="114300"/>
          </a:xfrm>
          <a:prstGeom prst="rect">
            <a:avLst/>
          </a:prstGeom>
          <a:solidFill>
            <a:srgbClr val="8FA3BF"/>
          </a:solidFill>
          <a:ln/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12A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4325243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1FA7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DATA ENGINEER A–Z · #20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7035816" y="3975274"/>
            <a:ext cx="4216293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spc="300" kern="0" dirty="0">
                <a:solidFill>
                  <a:srgbClr val="F47B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CÂU HỎI PHỎNG VẤN #20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872779" y="4722986"/>
            <a:ext cx="14542443" cy="7695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94815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Data contract khác schema validation gì?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4069125" y="5911676"/>
            <a:ext cx="10149751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8310"/>
              </a:lnSpc>
              <a:buNone/>
            </a:pPr>
            <a:r>
              <a:rPr lang="en-US" sz="21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Trách nhiệm chuyển sang producer; có SLA, owner, chạy khi thay đổi.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16745396" y="9424988"/>
            <a:ext cx="704404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14/15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0" y="10172700"/>
            <a:ext cx="17068800" cy="114300"/>
          </a:xfrm>
          <a:prstGeom prst="rect">
            <a:avLst/>
          </a:prstGeom>
          <a:solidFill>
            <a:srgbClr val="8FA3BF"/>
          </a:solidFill>
          <a:ln/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4325243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1FA7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DATA ENGINEER A–Z · #20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2476500"/>
            <a:ext cx="14893193" cy="376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spc="300" kern="0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VIDEO TIẾP THEO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914400" y="3157538"/>
            <a:ext cx="1817273" cy="156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9012"/>
              </a:lnSpc>
              <a:buNone/>
            </a:pPr>
            <a:r>
              <a:rPr lang="en-US" sz="12000" b="1" spc="-300" kern="0" dirty="0">
                <a:solidFill>
                  <a:srgbClr val="F47B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21</a:t>
            </a:r>
            <a:endParaRPr lang="en-US" sz="12000" dirty="0"/>
          </a:p>
        </p:txBody>
      </p:sp>
      <p:sp>
        <p:nvSpPr>
          <p:cNvPr id="5" name="Text 3"/>
          <p:cNvSpPr/>
          <p:nvPr/>
        </p:nvSpPr>
        <p:spPr>
          <a:xfrm>
            <a:off x="3023667" y="3905250"/>
            <a:ext cx="11772900" cy="1440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0864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Data Observability &amp; Lineage: biết pipeline hỏng trước khi sếp biết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914400" y="5650111"/>
            <a:ext cx="14893193" cy="471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Thứ Ba 12/1 · 19:00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914400" y="6654998"/>
            <a:ext cx="2344266" cy="842963"/>
          </a:xfrm>
          <a:prstGeom prst="rect">
            <a:avLst/>
          </a:prstGeom>
          <a:solidFill>
            <a:srgbClr val="F47B20"/>
          </a:solidFill>
          <a:ln/>
        </p:spPr>
      </p:sp>
      <p:sp>
        <p:nvSpPr>
          <p:cNvPr id="8" name="Text 6"/>
          <p:cNvSpPr/>
          <p:nvPr/>
        </p:nvSpPr>
        <p:spPr>
          <a:xfrm>
            <a:off x="1447800" y="6883598"/>
            <a:ext cx="1353666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Đăng ký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6754996" y="9424988"/>
            <a:ext cx="694804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15/15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0" y="10172700"/>
            <a:ext cx="18288000" cy="114300"/>
          </a:xfrm>
          <a:prstGeom prst="rect">
            <a:avLst/>
          </a:prstGeom>
          <a:solidFill>
            <a:srgbClr val="8FA3BF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2026-10-22T11:09:50Z</dcterms:created>
  <dcterms:modified xsi:type="dcterms:W3CDTF">2026-10-22T11:09:50Z</dcterms:modified>
</cp:coreProperties>
</file>