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6959106" cy="1943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51"/>
              </a:lnSpc>
              <a:buNone/>
            </a:pPr>
            <a:r>
              <a:rPr lang="en-US" sz="15000" b="1" spc="-45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914400" y="5029200"/>
            <a:ext cx="695910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Tối ưu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5867400"/>
            <a:ext cx="6959106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29"/>
              </a:lnSpc>
              <a:buNone/>
            </a:pPr>
            <a:r>
              <a:rPr lang="en-US" sz="6000" b="1" spc="-75" kern="0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914400" y="7086600"/>
            <a:ext cx="695910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Skew · broadcast join · AQE · đọc Spark UI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01/15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0" y="10172700"/>
            <a:ext cx="1219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677869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Hôm nay mình nói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905000" y="3357563"/>
            <a:ext cx="270065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trình tối ưu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2672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2672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905000" y="4386263"/>
            <a:ext cx="1859265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skew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59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59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905000" y="5414963"/>
            <a:ext cx="5215667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Broadcast vs sort-merge join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246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246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905000" y="6443663"/>
            <a:ext cx="37037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AQE · Memory config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7353300"/>
            <a:ext cx="647700" cy="6477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7" name="Text 15"/>
          <p:cNvSpPr/>
          <p:nvPr/>
        </p:nvSpPr>
        <p:spPr>
          <a:xfrm>
            <a:off x="876300" y="7353300"/>
            <a:ext cx="7239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905000" y="7472363"/>
            <a:ext cx="2804696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 lỗi production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16694869" y="9424988"/>
            <a:ext cx="75493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2438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936778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 trình tối ưu, theo thứ tự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238500"/>
            <a:ext cx="6477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866900" y="3238500"/>
            <a:ext cx="385039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trước — Spark UI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4052888"/>
            <a:ext cx="6477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66900" y="4052888"/>
            <a:ext cx="988503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 dữ liệu đọc — partition pruning, column pruning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4867275"/>
            <a:ext cx="6477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866900" y="4867275"/>
            <a:ext cx="2346141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Giảm shuffle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5681663"/>
            <a:ext cx="6477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866900" y="5681663"/>
            <a:ext cx="196592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 lý skew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6496050"/>
            <a:ext cx="64770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866900" y="6496050"/>
            <a:ext cx="538592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Cuối cùng mới chỉnh memory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6696655" y="9424988"/>
            <a:ext cx="7531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03/15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10172700"/>
            <a:ext cx="3657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362644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skew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3088481"/>
            <a:ext cx="16764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2438400" y="3048000"/>
            <a:ext cx="521196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468600" y="3088481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621881"/>
            <a:ext cx="16764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2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438400" y="3581400"/>
            <a:ext cx="521196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468600" y="3621881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155281"/>
            <a:ext cx="16764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3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38400" y="4114800"/>
            <a:ext cx="390897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468600" y="4155281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 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88681"/>
            <a:ext cx="16764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438400" y="4648200"/>
            <a:ext cx="521196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468600" y="4688681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 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5222081"/>
            <a:ext cx="16764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438400" y="5181600"/>
            <a:ext cx="13030200" cy="381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67000" y="5219700"/>
            <a:ext cx="13154406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store HN01 · 60% dữ liệu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5468600" y="5222081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phút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755481"/>
            <a:ext cx="16764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6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438400" y="5715000"/>
            <a:ext cx="521196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468600" y="5755481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4400" y="6288881"/>
            <a:ext cx="16764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7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2438400" y="6248400"/>
            <a:ext cx="390897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468600" y="6288881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 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14400" y="6822281"/>
            <a:ext cx="16764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task 8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438400" y="6781800"/>
            <a:ext cx="521196" cy="3810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468600" y="6822281"/>
            <a:ext cx="209550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s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Job chậm bằng task chậm nhất.</a:t>
            </a:r>
            <a:endParaRPr lang="en-US" sz="2700" dirty="0"/>
          </a:p>
        </p:txBody>
      </p:sp>
      <p:sp>
        <p:nvSpPr>
          <p:cNvPr id="30" name="Text 28"/>
          <p:cNvSpPr/>
          <p:nvPr/>
        </p:nvSpPr>
        <p:spPr>
          <a:xfrm>
            <a:off x="16682070" y="9424988"/>
            <a:ext cx="7677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04/15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0" y="10172700"/>
            <a:ext cx="4876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166062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 hiện skew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837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9224702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Spark UI → Stage → task duration: max ≫ median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4100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100513"/>
            <a:ext cx="667482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df.groupBy(key).count()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 top key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934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53000"/>
            <a:ext cx="579029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Shuffle read lệch giữa các task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459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805488"/>
            <a:ext cx="844683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 gặp: null key, key "default", khách lớn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691670" y="9424988"/>
            <a:ext cx="7581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05/15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6096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097716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Xử lý skew bằng salting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16459200" cy="4922341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628900"/>
            <a:ext cx="57150" cy="4922341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280035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 = 10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18514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56994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bảng lớn: thêm salt ngẫu nhiên 0..9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71550" y="3935685"/>
            <a:ext cx="16402050" cy="38479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3954735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big = sales.withColumn("salt", (F.rand() * N).cast("int"))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4339530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352550" y="472432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bảng nhỏ: nhân bản mỗi dòng N lần, mỗi bản một salt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352550" y="510912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small = (dim_store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49391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 .withColumn("salt", F.explode(F.array([F.lit(i) for i in range(N)]))))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587871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26350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joined = big.join(small, on=["store_id", "salt"], how="inner")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6648301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52550" y="7033096"/>
            <a:ext cx="16132112" cy="38479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98378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result = joined.drop("salt").groupBy("store_id").agg(F.sum("amount"))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4400" y="8710613"/>
            <a:ext cx="4342514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Chia key lớn thành 10 key nhỏ.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06/15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7315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172947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Broadcast join vs Sort-merge join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7772400" cy="4572000"/>
          </a:xfrm>
          <a:prstGeom prst="rect">
            <a:avLst/>
          </a:prstGeom>
          <a:solidFill>
            <a:srgbClr val="112A4D"/>
          </a:solidFill>
          <a:ln w="38100">
            <a:solidFill>
              <a:srgbClr val="F47B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90900"/>
            <a:ext cx="779526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Broadcast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257300" y="4005262"/>
            <a:ext cx="2632770" cy="6238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76375" y="4167187"/>
            <a:ext cx="2273603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dim_store · 2 MB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8670" y="4126706"/>
            <a:ext cx="762000" cy="381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09270" y="4171950"/>
            <a:ext cx="285110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copy đến mọi executor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1257300" y="4857750"/>
            <a:ext cx="2260550" cy="190023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790700" y="5176838"/>
            <a:ext cx="12699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751261" y="5562600"/>
            <a:ext cx="1272555" cy="39052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84611" y="5619750"/>
            <a:ext cx="1082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sales p1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1688381" y="6048375"/>
            <a:ext cx="1398315" cy="390525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821731" y="6105525"/>
            <a:ext cx="12078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dim_store</a:t>
            </a:r>
            <a:endParaRPr lang="en-US" sz="1650" dirty="0"/>
          </a:p>
        </p:txBody>
      </p:sp>
      <p:sp>
        <p:nvSpPr>
          <p:cNvPr id="16" name="Shape 13"/>
          <p:cNvSpPr/>
          <p:nvPr/>
        </p:nvSpPr>
        <p:spPr>
          <a:xfrm>
            <a:off x="3670250" y="4857750"/>
            <a:ext cx="2260625" cy="190023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77010" y="5176838"/>
            <a:ext cx="13717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2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4164285" y="5562600"/>
            <a:ext cx="1272555" cy="39052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35" y="5619750"/>
            <a:ext cx="1082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sales p2</a:t>
            </a:r>
            <a:endParaRPr lang="en-US" sz="1650" dirty="0"/>
          </a:p>
        </p:txBody>
      </p:sp>
      <p:sp>
        <p:nvSpPr>
          <p:cNvPr id="20" name="Shape 17"/>
          <p:cNvSpPr/>
          <p:nvPr/>
        </p:nvSpPr>
        <p:spPr>
          <a:xfrm>
            <a:off x="4101405" y="6048375"/>
            <a:ext cx="1398315" cy="390525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34755" y="6105525"/>
            <a:ext cx="12078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dim_store</a:t>
            </a:r>
            <a:endParaRPr lang="en-US" sz="1650" dirty="0"/>
          </a:p>
        </p:txBody>
      </p:sp>
      <p:sp>
        <p:nvSpPr>
          <p:cNvPr id="22" name="Shape 19"/>
          <p:cNvSpPr/>
          <p:nvPr/>
        </p:nvSpPr>
        <p:spPr>
          <a:xfrm>
            <a:off x="6083275" y="4857750"/>
            <a:ext cx="2260550" cy="190023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8175" y="5176838"/>
            <a:ext cx="13757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3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577236" y="5562600"/>
            <a:ext cx="1272555" cy="390525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10586" y="5619750"/>
            <a:ext cx="108205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sales p3</a:t>
            </a:r>
            <a:endParaRPr lang="en-US" sz="1650" dirty="0"/>
          </a:p>
        </p:txBody>
      </p:sp>
      <p:sp>
        <p:nvSpPr>
          <p:cNvPr id="26" name="Shape 23"/>
          <p:cNvSpPr/>
          <p:nvPr/>
        </p:nvSpPr>
        <p:spPr>
          <a:xfrm>
            <a:off x="6514356" y="6048375"/>
            <a:ext cx="1398315" cy="390525"/>
          </a:xfrm>
          <a:prstGeom prst="rect">
            <a:avLst/>
          </a:prstGeom>
          <a:ln w="19050">
            <a:solidFill>
              <a:srgbClr val="F47B2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47706" y="6105525"/>
            <a:ext cx="120781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dim_store</a:t>
            </a:r>
            <a:endParaRPr lang="en-US" sz="1650" dirty="0"/>
          </a:p>
        </p:txBody>
      </p:sp>
      <p:sp>
        <p:nvSpPr>
          <p:cNvPr id="28" name="Text 25"/>
          <p:cNvSpPr/>
          <p:nvPr/>
        </p:nvSpPr>
        <p:spPr>
          <a:xfrm>
            <a:off x="1257300" y="6986588"/>
            <a:ext cx="77952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sales không di chuyển, không shuffle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9601200" y="3048000"/>
            <a:ext cx="7772400" cy="45720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934575" y="3381375"/>
            <a:ext cx="78162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Sort-merge</a:t>
            </a:r>
            <a:endParaRPr lang="en-US" sz="2400" dirty="0"/>
          </a:p>
        </p:txBody>
      </p:sp>
      <p:sp>
        <p:nvSpPr>
          <p:cNvPr id="31" name="Shape 28"/>
          <p:cNvSpPr/>
          <p:nvPr/>
        </p:nvSpPr>
        <p:spPr>
          <a:xfrm>
            <a:off x="9934575" y="3995738"/>
            <a:ext cx="2221260" cy="6238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153650" y="4157663"/>
            <a:ext cx="1859310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sales · 50 GB</a:t>
            </a:r>
            <a:endParaRPr lang="en-US" sz="1800" dirty="0"/>
          </a:p>
        </p:txBody>
      </p:sp>
      <p:sp>
        <p:nvSpPr>
          <p:cNvPr id="33" name="Shape 30"/>
          <p:cNvSpPr/>
          <p:nvPr/>
        </p:nvSpPr>
        <p:spPr>
          <a:xfrm>
            <a:off x="12384435" y="3995738"/>
            <a:ext cx="2907060" cy="623888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2603510" y="4157663"/>
            <a:ext cx="2556122" cy="3381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app_events · 30 GB</a:t>
            </a:r>
            <a:endParaRPr lang="en-US" sz="180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62977" y="4848225"/>
            <a:ext cx="571500" cy="457200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11686877" y="4931569"/>
            <a:ext cx="39610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shuffle cả 2 bảng theo store_id</a:t>
            </a:r>
            <a:endParaRPr lang="en-US" sz="180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440248" y="4848225"/>
            <a:ext cx="571500" cy="457200"/>
          </a:xfrm>
          <a:prstGeom prst="rect">
            <a:avLst/>
          </a:prstGeom>
        </p:spPr>
      </p:pic>
      <p:sp>
        <p:nvSpPr>
          <p:cNvPr id="38" name="Shape 33"/>
          <p:cNvSpPr/>
          <p:nvPr/>
        </p:nvSpPr>
        <p:spPr>
          <a:xfrm>
            <a:off x="9934575" y="5534025"/>
            <a:ext cx="2266950" cy="1752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10769426" y="6084094"/>
            <a:ext cx="67337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HN01</a:t>
            </a:r>
            <a:endParaRPr lang="en-US" sz="1800" dirty="0"/>
          </a:p>
        </p:txBody>
      </p:sp>
      <p:sp>
        <p:nvSpPr>
          <p:cNvPr id="40" name="Text 35"/>
          <p:cNvSpPr/>
          <p:nvPr/>
        </p:nvSpPr>
        <p:spPr>
          <a:xfrm>
            <a:off x="10373320" y="6469856"/>
            <a:ext cx="15283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sort → merge</a:t>
            </a:r>
            <a:endParaRPr lang="en-US" sz="1650" dirty="0"/>
          </a:p>
        </p:txBody>
      </p:sp>
      <p:sp>
        <p:nvSpPr>
          <p:cNvPr id="41" name="Shape 36"/>
          <p:cNvSpPr/>
          <p:nvPr/>
        </p:nvSpPr>
        <p:spPr>
          <a:xfrm>
            <a:off x="12353925" y="5534025"/>
            <a:ext cx="2266950" cy="1752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13162211" y="6084094"/>
            <a:ext cx="72657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HN02</a:t>
            </a:r>
            <a:endParaRPr lang="en-US" sz="1800" dirty="0"/>
          </a:p>
        </p:txBody>
      </p:sp>
      <p:sp>
        <p:nvSpPr>
          <p:cNvPr id="43" name="Text 38"/>
          <p:cNvSpPr/>
          <p:nvPr/>
        </p:nvSpPr>
        <p:spPr>
          <a:xfrm>
            <a:off x="12792670" y="6469856"/>
            <a:ext cx="15283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sort → merge</a:t>
            </a:r>
            <a:endParaRPr lang="en-US" sz="1650" dirty="0"/>
          </a:p>
        </p:txBody>
      </p:sp>
      <p:sp>
        <p:nvSpPr>
          <p:cNvPr id="44" name="Shape 39"/>
          <p:cNvSpPr/>
          <p:nvPr/>
        </p:nvSpPr>
        <p:spPr>
          <a:xfrm>
            <a:off x="14773275" y="5534025"/>
            <a:ext cx="2266950" cy="1752600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15609615" y="6084094"/>
            <a:ext cx="670396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SG01</a:t>
            </a:r>
            <a:endParaRPr lang="en-US" sz="1800" dirty="0"/>
          </a:p>
        </p:txBody>
      </p:sp>
      <p:sp>
        <p:nvSpPr>
          <p:cNvPr id="46" name="Text 41"/>
          <p:cNvSpPr/>
          <p:nvPr/>
        </p:nvSpPr>
        <p:spPr>
          <a:xfrm>
            <a:off x="15212020" y="6469856"/>
            <a:ext cx="15283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sort → merge</a:t>
            </a:r>
            <a:endParaRPr lang="en-US" sz="1650" dirty="0"/>
          </a:p>
        </p:txBody>
      </p:sp>
      <p:sp>
        <p:nvSpPr>
          <p:cNvPr id="47" name="Text 42"/>
          <p:cNvSpPr/>
          <p:nvPr/>
        </p:nvSpPr>
        <p:spPr>
          <a:xfrm>
            <a:off x="91440" y="8520113"/>
            <a:ext cx="18105120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 nhỏ (&lt; 10 MB mặc định) → broadcast.</a:t>
            </a:r>
            <a:endParaRPr lang="en-US" sz="2700" dirty="0"/>
          </a:p>
        </p:txBody>
      </p:sp>
      <p:sp>
        <p:nvSpPr>
          <p:cNvPr id="48" name="Text 43"/>
          <p:cNvSpPr/>
          <p:nvPr/>
        </p:nvSpPr>
        <p:spPr>
          <a:xfrm>
            <a:off x="16721807" y="9424988"/>
            <a:ext cx="72799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07/15</a:t>
            </a:r>
            <a:endParaRPr lang="en-US" sz="1800" dirty="0"/>
          </a:p>
        </p:txBody>
      </p:sp>
      <p:sp>
        <p:nvSpPr>
          <p:cNvPr id="49" name="Shape 44"/>
          <p:cNvSpPr/>
          <p:nvPr/>
        </p:nvSpPr>
        <p:spPr>
          <a:xfrm>
            <a:off x="0" y="10172700"/>
            <a:ext cx="8534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84743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Broadcast vs Sort-merge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429000" cy="914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5" name="Shape 3"/>
          <p:cNvSpPr/>
          <p:nvPr/>
        </p:nvSpPr>
        <p:spPr>
          <a:xfrm>
            <a:off x="4419600" y="3048000"/>
            <a:ext cx="6438900" cy="914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6" name="Text 4"/>
          <p:cNvSpPr/>
          <p:nvPr/>
        </p:nvSpPr>
        <p:spPr>
          <a:xfrm>
            <a:off x="4724400" y="3238500"/>
            <a:ext cx="60224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Broadcast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934700" y="3048000"/>
            <a:ext cx="6438900" cy="914400"/>
          </a:xfrm>
          <a:prstGeom prst="rect">
            <a:avLst/>
          </a:prstGeom>
          <a:solidFill>
            <a:srgbClr val="1FA7A0"/>
          </a:solidFill>
          <a:ln/>
        </p:spPr>
      </p:sp>
      <p:sp>
        <p:nvSpPr>
          <p:cNvPr id="8" name="Text 6"/>
          <p:cNvSpPr/>
          <p:nvPr/>
        </p:nvSpPr>
        <p:spPr>
          <a:xfrm>
            <a:off x="11239500" y="3238500"/>
            <a:ext cx="602246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Sort-merge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219200" y="4229100"/>
            <a:ext cx="29222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 kiện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4419600" y="4038600"/>
            <a:ext cx="64389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43450" y="424815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 bảng nhỏ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10934700" y="4038600"/>
            <a:ext cx="64389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258550" y="424815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 bảng lớn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9200" y="5219700"/>
            <a:ext cx="29222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Shuffle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4419600" y="5029200"/>
            <a:ext cx="6438900" cy="914400"/>
          </a:xfrm>
          <a:prstGeom prst="rect">
            <a:avLst/>
          </a:prstGeom>
          <a:solidFill>
            <a:srgbClr val="112A4D"/>
          </a:solidFill>
          <a:ln w="28575">
            <a:solidFill>
              <a:srgbClr val="F47B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2975" y="5248275"/>
            <a:ext cx="5965317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0934700" y="5029200"/>
            <a:ext cx="64389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58550" y="523875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Có, cả hai bảng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219200" y="6210300"/>
            <a:ext cx="29222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 nhớ driver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4419600" y="6019800"/>
            <a:ext cx="64389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43450" y="622935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 chứa cả bảng nhỏ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0934700" y="6019800"/>
            <a:ext cx="64389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258550" y="622935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ảnh hưởng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19200" y="7200900"/>
            <a:ext cx="29222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nào ép</a:t>
            </a:r>
            <a:endParaRPr lang="en-US" sz="2250" dirty="0"/>
          </a:p>
        </p:txBody>
      </p:sp>
      <p:sp>
        <p:nvSpPr>
          <p:cNvPr id="25" name="Shape 23"/>
          <p:cNvSpPr/>
          <p:nvPr/>
        </p:nvSpPr>
        <p:spPr>
          <a:xfrm>
            <a:off x="4419600" y="7010400"/>
            <a:ext cx="64389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43450" y="7287592"/>
            <a:ext cx="228835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broadcast(df)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889477" y="7284244"/>
            <a:ext cx="3367387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 Spark ước lượng sai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0934700" y="7010400"/>
            <a:ext cx="64389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258550" y="721995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Mặc định, hiếm khi ép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1219200" y="8191500"/>
            <a:ext cx="292227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Rủi ro</a:t>
            </a:r>
            <a:endParaRPr lang="en-US" sz="2250" dirty="0"/>
          </a:p>
        </p:txBody>
      </p:sp>
      <p:sp>
        <p:nvSpPr>
          <p:cNvPr id="31" name="Shape 29"/>
          <p:cNvSpPr/>
          <p:nvPr/>
        </p:nvSpPr>
        <p:spPr>
          <a:xfrm>
            <a:off x="4419600" y="8001000"/>
            <a:ext cx="64389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43450" y="821055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OOM nếu bảng không nhỏ như tưởng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10934700" y="8001000"/>
            <a:ext cx="6438900" cy="914400"/>
          </a:xfrm>
          <a:prstGeom prst="rect">
            <a:avLst/>
          </a:prstGeom>
          <a:ln w="19050">
            <a:solidFill>
              <a:srgbClr val="1FA7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258550" y="8210550"/>
            <a:ext cx="5984367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 khi skew</a:t>
            </a:r>
            <a:endParaRPr lang="en-US" sz="2250" dirty="0"/>
          </a:p>
        </p:txBody>
      </p:sp>
      <p:sp>
        <p:nvSpPr>
          <p:cNvPr id="35" name="Text 33"/>
          <p:cNvSpPr/>
          <p:nvPr/>
        </p:nvSpPr>
        <p:spPr>
          <a:xfrm>
            <a:off x="16695762" y="9424988"/>
            <a:ext cx="75403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08/15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0" y="10172700"/>
            <a:ext cx="9753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289891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 AQE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4836468"/>
          </a:xfrm>
          <a:prstGeom prst="rect">
            <a:avLst/>
          </a:prstGeom>
          <a:solidFill>
            <a:srgbClr val="071527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57150" cy="4836468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6" name="Text 4"/>
          <p:cNvSpPr/>
          <p:nvPr/>
        </p:nvSpPr>
        <p:spPr>
          <a:xfrm>
            <a:off x="1352550" y="310515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spark.conf.set("spark.sql.adaptive.enabled", True)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352550" y="3503265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52550" y="3901380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gộp partition nhỏ sau shuffle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352550" y="429949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spark.conf.set("spark.sql.adaptive.coalescePartitions.enabled", True)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352550" y="469761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352550" y="5095726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tách partition skew lúc join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71550" y="5474791"/>
            <a:ext cx="16402050" cy="398115"/>
          </a:xfrm>
          <a:prstGeom prst="rect">
            <a:avLst/>
          </a:prstGeom>
          <a:solidFill>
            <a:srgbClr val="1A3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52550" y="5493841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spark.conf.set("spark.sql.adaptive.skewJoin.enabled", True)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52550" y="589195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spark.conf.set("spark.sql.adaptive.skewJoin.skewedPartitionFactor", 5)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352550" y="629007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52550" y="6688187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8FA3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ngưỡng broadcast, mặc định 10 MB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52550" y="7086302"/>
            <a:ext cx="16132112" cy="39811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2162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spark.conf.set("spark.sql.autoBroadcastJoinThreshold", 50 * 1024 * 1024)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14400" y="8710613"/>
            <a:ext cx="8831960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AQE (Spark 3+) tự chỉnh partition và tách key skew lúc chạy.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6687279" y="9424988"/>
            <a:ext cx="76252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09/15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0" y="10172700"/>
            <a:ext cx="10972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563476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AQE làm được gì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5430456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Gộp partition nhỏ sau shuffle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940183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 sort-merge sang broadcast khi thấy bảng nhỏ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37195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 partition skew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8FA3BF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8906612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thay được partition pruning và model tốt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750829" y="9424988"/>
            <a:ext cx="69897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10/15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2192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8060881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Memory config đủ dùng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378994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238500"/>
            <a:ext cx="10269014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Executor memory, cores, số executor — chọn theo máy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231481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4090987"/>
            <a:ext cx="5612257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Memory overhead cho Python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83969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4943475"/>
            <a:ext cx="6179515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 tăng memory để che skew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936456"/>
            <a:ext cx="152400" cy="152400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5795963"/>
            <a:ext cx="681512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Tăng parallelism trước khi tăng RAM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6814155" y="9424988"/>
            <a:ext cx="6356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11/15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0" y="10172700"/>
            <a:ext cx="134112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401803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 hay gặp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88011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SAI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372600" y="2857500"/>
            <a:ext cx="880110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479"/>
              </a:lnSpc>
              <a:buNone/>
            </a:pPr>
            <a:r>
              <a:rPr lang="en-US" sz="21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503265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Broadcast bảng 2 GB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9372600" y="3503265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tra size trước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14400" y="4174778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Join trên cột null nhiều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372600" y="4174778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Lọc null trước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4846290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orderBy toàn bộ để lấy top 10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72600" y="4846290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Window, hoặc limit sau sort theo partition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14400" y="5517803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UDF Python cho việc có hàm built-in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372600" y="5517803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 Spark SQL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14400" y="6189315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strike="sngStrike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cả thư mục rồi filter ngày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372600" y="6189315"/>
            <a:ext cx="88011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579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Filter trên cột partition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6758196" y="9424988"/>
            <a:ext cx="6916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12/15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10172700"/>
            <a:ext cx="146304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752600"/>
            <a:ext cx="13746480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Lab #11 — Job 12 phút xuống dưới 2 phút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5" name="Text 3"/>
          <p:cNvSpPr/>
          <p:nvPr/>
        </p:nvSpPr>
        <p:spPr>
          <a:xfrm>
            <a:off x="876300" y="32385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828800" y="3316635"/>
            <a:ext cx="9095370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 job skew sẵn trong </a:t>
            </a:r>
            <a:pPr algn="l" indent="0" marL="0">
              <a:lnSpc>
                <a:spcPct val="110698"/>
              </a:lnSpc>
              <a:buNone/>
            </a:pPr>
            <a:r>
              <a:rPr lang="en-US" sz="2100" b="1" dirty="0">
                <a:solidFill>
                  <a:srgbClr val="1FA7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videos/11/lab</a:t>
            </a:r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, ghi thời gian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876300" y="419100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4291013"/>
            <a:ext cx="6693731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 Spark UI, tìm stage và task chậm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292030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1" name="Text 9"/>
          <p:cNvSpPr/>
          <p:nvPr/>
        </p:nvSpPr>
        <p:spPr>
          <a:xfrm>
            <a:off x="876300" y="529203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828800" y="5143500"/>
            <a:ext cx="9889236" cy="944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698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Áp dụng lần lượt: filter partition, broadcast dim, AQE, salting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6393061"/>
            <a:ext cx="609600" cy="609600"/>
          </a:xfrm>
          <a:prstGeom prst="ellipse">
            <a:avLst/>
          </a:prstGeom>
          <a:solidFill>
            <a:srgbClr val="F47B20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6393061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1828800" y="6493073"/>
            <a:ext cx="4682378" cy="447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 sau mỗi bước, ghi bảng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2039600" y="3238500"/>
            <a:ext cx="5334000" cy="2938463"/>
          </a:xfrm>
          <a:prstGeom prst="rect">
            <a:avLst/>
          </a:prstGeom>
          <a:ln w="28575">
            <a:solidFill>
              <a:srgbClr val="1FA7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449175" y="3648075"/>
            <a:ext cx="496633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 QUẢ MONG ĐỢI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49175" y="4167188"/>
            <a:ext cx="496633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≥ 5 lần </a:t>
            </a:r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 hơn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2449175" y="4852988"/>
            <a:ext cx="465029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519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 bước nào giúp nhiều nhất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6759982" y="9424988"/>
            <a:ext cx="68981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13/15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0" y="10172700"/>
            <a:ext cx="158496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098927" y="3975274"/>
            <a:ext cx="409007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 HỎI PHỎNG VẤN #11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815184" y="4722986"/>
            <a:ext cx="12657557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4815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 hiện data skew bằng cách nào?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353441" y="5911676"/>
            <a:ext cx="7581044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310"/>
              </a:lnSpc>
              <a:buNone/>
            </a:pPr>
            <a:r>
              <a:rPr lang="en-US" sz="21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 bố task duration trong Spark UI, đếm theo key.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745396" y="9424988"/>
            <a:ext cx="7044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14/15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10172700"/>
            <a:ext cx="170688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4193947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A7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DATA ENGINEER A–Z · #11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2476500"/>
            <a:ext cx="14893193" cy="376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300" kern="0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VIDEO TIẾP THEO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914400" y="3157538"/>
            <a:ext cx="1817273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9012"/>
              </a:lnSpc>
              <a:buNone/>
            </a:pPr>
            <a:r>
              <a:rPr lang="en-US" sz="12000" b="1" spc="-300" kern="0" dirty="0">
                <a:solidFill>
                  <a:srgbClr val="F47B2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3023667" y="3905250"/>
            <a:ext cx="11772900" cy="1440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864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dbt: biến SQL thành pipeline có test, có docs, có version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5650111"/>
            <a:ext cx="14893193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 Sáu 11/12 · 19:00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6654998"/>
            <a:ext cx="2344266" cy="842963"/>
          </a:xfrm>
          <a:prstGeom prst="rect">
            <a:avLst/>
          </a:prstGeom>
          <a:solidFill>
            <a:srgbClr val="F47B20"/>
          </a:solidFill>
          <a:ln/>
        </p:spPr>
      </p:sp>
      <p:sp>
        <p:nvSpPr>
          <p:cNvPr id="8" name="Text 6"/>
          <p:cNvSpPr/>
          <p:nvPr/>
        </p:nvSpPr>
        <p:spPr>
          <a:xfrm>
            <a:off x="1447800" y="6883598"/>
            <a:ext cx="1353666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 ký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754996" y="9424988"/>
            <a:ext cx="69480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8FA3B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15/15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10172700"/>
            <a:ext cx="18288000" cy="114300"/>
          </a:xfrm>
          <a:prstGeom prst="rect">
            <a:avLst/>
          </a:prstGeom>
          <a:solidFill>
            <a:srgbClr val="147C7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2026-10-22T10:31:31Z</dcterms:created>
  <dcterms:modified xsi:type="dcterms:W3CDTF">2026-10-22T10:31:31Z</dcterms:modified>
</cp:coreProperties>
</file>