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426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8007511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51"/>
              </a:lnSpc>
              <a:buNone/>
            </a:pPr>
            <a:r>
              <a:rPr lang="en-US" sz="15000" b="1" spc="-45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08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14400" y="5029200"/>
            <a:ext cx="8007511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 dạng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5867400"/>
            <a:ext cx="8007511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file dữ liệu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7086600"/>
            <a:ext cx="800751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Parquet · Avro · ORC · Delta — hiểu để chọn đúng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741229" y="9424988"/>
            <a:ext cx="7085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01/14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10172700"/>
            <a:ext cx="1304925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426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77869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Hôm nay mình nói gì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685800" cy="6858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2385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943100" y="3364706"/>
            <a:ext cx="403220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Row vs column layout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343400"/>
            <a:ext cx="685800" cy="6858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43434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943100" y="4469606"/>
            <a:ext cx="3119757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Nén và encoding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448300"/>
            <a:ext cx="685800" cy="6858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54483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943100" y="5574506"/>
            <a:ext cx="3345679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Schema evolution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6553200"/>
            <a:ext cx="685800" cy="6858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65532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943100" y="6679406"/>
            <a:ext cx="3865461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Predicate pushdown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14400" y="7658100"/>
            <a:ext cx="685800" cy="6858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76581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943100" y="7784306"/>
            <a:ext cx="6148246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Partitioning &amp; small-file problem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6685270" y="9424988"/>
            <a:ext cx="7645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02/14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10172700"/>
            <a:ext cx="260985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426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268506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Row layout vs Column layout trên đĩa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238500"/>
            <a:ext cx="854964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Row · CSV, Avro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3852863"/>
            <a:ext cx="1900238" cy="62388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8700" y="4005263"/>
            <a:ext cx="167163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r1c1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71788" y="3852863"/>
            <a:ext cx="1900238" cy="62388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86088" y="4005263"/>
            <a:ext cx="167163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r1c2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829175" y="3852863"/>
            <a:ext cx="1900238" cy="623888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3000" y="4014788"/>
            <a:ext cx="1652587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r1c3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786563" y="3852863"/>
            <a:ext cx="1900238" cy="62388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00863" y="4005263"/>
            <a:ext cx="167163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r1c4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4533900"/>
            <a:ext cx="1900238" cy="62388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8700" y="4686300"/>
            <a:ext cx="167163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r2c1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871788" y="4533900"/>
            <a:ext cx="1900238" cy="62388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86088" y="4686300"/>
            <a:ext cx="167163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r2c2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829175" y="4533900"/>
            <a:ext cx="1900238" cy="623888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3000" y="4695825"/>
            <a:ext cx="1652587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r2c3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786563" y="4533900"/>
            <a:ext cx="1900238" cy="62388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0863" y="4686300"/>
            <a:ext cx="167163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r2c4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5214938"/>
            <a:ext cx="1900238" cy="62388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8700" y="5367338"/>
            <a:ext cx="167163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r3c1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2871788" y="5214938"/>
            <a:ext cx="1900238" cy="62388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86088" y="5367338"/>
            <a:ext cx="167163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r3c2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829175" y="5214938"/>
            <a:ext cx="1900238" cy="623888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3000" y="5376863"/>
            <a:ext cx="1652587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r3c3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786563" y="5214938"/>
            <a:ext cx="1900238" cy="62388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0863" y="5367338"/>
            <a:ext cx="167163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r3c4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14400" y="5895975"/>
            <a:ext cx="1900238" cy="62388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8700" y="6048375"/>
            <a:ext cx="167163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r4c1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2871788" y="5895975"/>
            <a:ext cx="1900238" cy="62388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86088" y="6048375"/>
            <a:ext cx="167163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r4c2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829175" y="5895975"/>
            <a:ext cx="1900238" cy="623888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53000" y="6057900"/>
            <a:ext cx="1652587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r4c3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786563" y="5895975"/>
            <a:ext cx="1900238" cy="62388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00863" y="6048375"/>
            <a:ext cx="167163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r4c4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14400" y="6748463"/>
            <a:ext cx="854964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SELECT c3 → đọc 16 ô, dùng 4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601200" y="3238500"/>
            <a:ext cx="854964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Column · Parquet, ORC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9601200" y="3852863"/>
            <a:ext cx="1900238" cy="6048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15500" y="4005263"/>
            <a:ext cx="167163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r1c1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1558588" y="3852863"/>
            <a:ext cx="1900238" cy="6048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672888" y="4005263"/>
            <a:ext cx="167163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r2c1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3515975" y="3852863"/>
            <a:ext cx="1900238" cy="6048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630275" y="4005263"/>
            <a:ext cx="167163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r3c1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5473363" y="3852863"/>
            <a:ext cx="1900238" cy="6048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5587663" y="4005263"/>
            <a:ext cx="167163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r4c1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9601200" y="4514850"/>
            <a:ext cx="1900238" cy="6048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715500" y="4667250"/>
            <a:ext cx="167163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r1c2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1558588" y="4514850"/>
            <a:ext cx="1900238" cy="6048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672888" y="4667250"/>
            <a:ext cx="167163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r2c2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3515975" y="4514850"/>
            <a:ext cx="1900238" cy="6048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3630275" y="4667250"/>
            <a:ext cx="167163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r3c2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5473363" y="4514850"/>
            <a:ext cx="1900238" cy="6048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5587663" y="4667250"/>
            <a:ext cx="167163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r4c2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9601200" y="5176838"/>
            <a:ext cx="1900238" cy="623888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725025" y="5338762"/>
            <a:ext cx="1652587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r1c3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1558588" y="5176838"/>
            <a:ext cx="1900238" cy="623888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1682413" y="5338762"/>
            <a:ext cx="1652587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r2c3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3515975" y="5176838"/>
            <a:ext cx="1900238" cy="623888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3639800" y="5338762"/>
            <a:ext cx="1652587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r3c3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5473363" y="5176838"/>
            <a:ext cx="1900238" cy="623888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5597187" y="5338762"/>
            <a:ext cx="1652587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r4c3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9601200" y="5857875"/>
            <a:ext cx="1900238" cy="6048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715500" y="6010275"/>
            <a:ext cx="167163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r1c4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1558588" y="5857875"/>
            <a:ext cx="1900238" cy="6048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1672888" y="6010275"/>
            <a:ext cx="167163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r2c4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3515975" y="5857875"/>
            <a:ext cx="1900238" cy="6048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3630275" y="6010275"/>
            <a:ext cx="167163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r3c4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5473363" y="5857875"/>
            <a:ext cx="1900238" cy="6048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5587663" y="6010275"/>
            <a:ext cx="167163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r4c4</a:t>
            </a:r>
            <a:endParaRPr lang="en-US" sz="1800" dirty="0"/>
          </a:p>
        </p:txBody>
      </p:sp>
      <p:pic>
        <p:nvPicPr>
          <p:cNvPr id="7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01200" y="6691313"/>
            <a:ext cx="609600" cy="304800"/>
          </a:xfrm>
          <a:prstGeom prst="rect">
            <a:avLst/>
          </a:prstGeom>
        </p:spPr>
      </p:pic>
      <p:sp>
        <p:nvSpPr>
          <p:cNvPr id="72" name="Text 69"/>
          <p:cNvSpPr/>
          <p:nvPr/>
        </p:nvSpPr>
        <p:spPr>
          <a:xfrm>
            <a:off x="10363200" y="6698456"/>
            <a:ext cx="434046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SELECT c3 → đọc đúng 1 đoạn liền</a:t>
            </a:r>
            <a:endParaRPr lang="en-US" sz="1800" dirty="0"/>
          </a:p>
        </p:txBody>
      </p:sp>
      <p:sp>
        <p:nvSpPr>
          <p:cNvPr id="73" name="Text 70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 tích đọc ít cột, nhiều dòng → column.</a:t>
            </a:r>
            <a:endParaRPr lang="en-US" sz="2700" dirty="0"/>
          </a:p>
        </p:txBody>
      </p:sp>
      <p:sp>
        <p:nvSpPr>
          <p:cNvPr id="74" name="Text 71"/>
          <p:cNvSpPr/>
          <p:nvPr/>
        </p:nvSpPr>
        <p:spPr>
          <a:xfrm>
            <a:off x="16687056" y="9424988"/>
            <a:ext cx="76274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03/14</a:t>
            </a:r>
            <a:endParaRPr lang="en-US" sz="1800" dirty="0"/>
          </a:p>
        </p:txBody>
      </p:sp>
      <p:sp>
        <p:nvSpPr>
          <p:cNvPr id="75" name="Shape 72"/>
          <p:cNvSpPr/>
          <p:nvPr/>
        </p:nvSpPr>
        <p:spPr>
          <a:xfrm>
            <a:off x="0" y="10172700"/>
            <a:ext cx="3914775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426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755927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 trong file Parquet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47625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47775" y="3305175"/>
            <a:ext cx="1737169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POS_2026-11-01.PARQUET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47775" y="3748087"/>
            <a:ext cx="5137100" cy="2738438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28750" y="3929063"/>
            <a:ext cx="525266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Row group 1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428750" y="4352925"/>
            <a:ext cx="1136600" cy="1590675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09700" y="4371975"/>
            <a:ext cx="1174700" cy="1590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store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2641550" y="4352925"/>
            <a:ext cx="1136675" cy="1590675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22500" y="4371975"/>
            <a:ext cx="1174775" cy="1590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ts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3854425" y="4352925"/>
            <a:ext cx="1136600" cy="1590675"/>
          </a:xfrm>
          <a:prstGeom prst="rect">
            <a:avLst/>
          </a:prstGeom>
          <a:ln w="28575">
            <a:solidFill>
              <a:srgbClr val="F47B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4900" y="4381500"/>
            <a:ext cx="1155650" cy="1571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amount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067226" y="4352925"/>
            <a:ext cx="1136675" cy="1590675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48176" y="4371975"/>
            <a:ext cx="1174775" cy="1590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qty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428750" y="6038850"/>
            <a:ext cx="52526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column chunk × 4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575375" y="3748087"/>
            <a:ext cx="5137175" cy="2738438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56350" y="3929063"/>
            <a:ext cx="5252747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Row group 2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6756350" y="4352925"/>
            <a:ext cx="1136600" cy="1590675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37300" y="4371975"/>
            <a:ext cx="1174700" cy="1590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store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7969151" y="4352925"/>
            <a:ext cx="1136675" cy="1590675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0101" y="4371975"/>
            <a:ext cx="1174775" cy="1590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ts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9182026" y="4352925"/>
            <a:ext cx="1136675" cy="1590675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62976" y="4371975"/>
            <a:ext cx="1174775" cy="1590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amount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0394900" y="4352925"/>
            <a:ext cx="1136675" cy="1590675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75850" y="4371975"/>
            <a:ext cx="1174775" cy="1590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qty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756350" y="6038850"/>
            <a:ext cx="52527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column chunk × 4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1903050" y="3748087"/>
            <a:ext cx="5137100" cy="2738438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084025" y="3929063"/>
            <a:ext cx="525266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Row group 3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2084025" y="4352925"/>
            <a:ext cx="1136600" cy="1590675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64975" y="4371975"/>
            <a:ext cx="1174700" cy="1590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store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3296826" y="4352925"/>
            <a:ext cx="1136675" cy="1590675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277776" y="4371975"/>
            <a:ext cx="1174775" cy="1590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ts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4509700" y="4352925"/>
            <a:ext cx="1136600" cy="1590675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490650" y="4371975"/>
            <a:ext cx="1174700" cy="1590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amount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722501" y="4352925"/>
            <a:ext cx="1136675" cy="1590675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5703451" y="4371975"/>
            <a:ext cx="1174775" cy="1590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qty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12084025" y="6038850"/>
            <a:ext cx="52526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column chunk × 4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247775" y="6638925"/>
            <a:ext cx="15792450" cy="914400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98440" y="6919913"/>
            <a:ext cx="299239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Footer · metadata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6099795" y="6946106"/>
            <a:ext cx="1010874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schema · row group offsets · amount min=12k max=980k · ts min/max …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Min/max trong footer là cách Parquet bỏ qua dữ liệu.</a:t>
            </a:r>
            <a:endParaRPr lang="en-US" sz="2700" dirty="0"/>
          </a:p>
        </p:txBody>
      </p:sp>
      <p:sp>
        <p:nvSpPr>
          <p:cNvPr id="43" name="Text 41"/>
          <p:cNvSpPr/>
          <p:nvPr/>
        </p:nvSpPr>
        <p:spPr>
          <a:xfrm>
            <a:off x="16672471" y="9424988"/>
            <a:ext cx="77732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04/14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0" y="10172700"/>
            <a:ext cx="5229225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426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568167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Nén và encoding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9089641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Dictionary encoding cho cột ít giá trị (store_id)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4392037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Run-length cho cột lặp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83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5359651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Snappy nhanh, Zstd nhỏ hơn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936456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795963"/>
            <a:ext cx="7634741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Nén theo cột hiệu quả hơn nén theo dòng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682070" y="9424988"/>
            <a:ext cx="7677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05/14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653415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426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439559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Parquet vs Avro vs ORC vs Delta / Iceberg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2667000" cy="104775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0" y="3048000"/>
            <a:ext cx="3371850" cy="104775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6" name="Text 4"/>
          <p:cNvSpPr/>
          <p:nvPr/>
        </p:nvSpPr>
        <p:spPr>
          <a:xfrm>
            <a:off x="3886200" y="3238500"/>
            <a:ext cx="301580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Parquet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7105650" y="3048000"/>
            <a:ext cx="3371850" cy="104775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8" name="Text 6"/>
          <p:cNvSpPr/>
          <p:nvPr/>
        </p:nvSpPr>
        <p:spPr>
          <a:xfrm>
            <a:off x="7334250" y="3238500"/>
            <a:ext cx="301580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Avro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0553700" y="3048000"/>
            <a:ext cx="3371850" cy="104775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10" name="Text 8"/>
          <p:cNvSpPr/>
          <p:nvPr/>
        </p:nvSpPr>
        <p:spPr>
          <a:xfrm>
            <a:off x="10782300" y="3238500"/>
            <a:ext cx="301580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ORC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4001750" y="3048000"/>
            <a:ext cx="3371850" cy="104775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12" name="Text 10"/>
          <p:cNvSpPr/>
          <p:nvPr/>
        </p:nvSpPr>
        <p:spPr>
          <a:xfrm>
            <a:off x="14230350" y="3238500"/>
            <a:ext cx="301580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Delta / Iceberg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143000" y="4362450"/>
            <a:ext cx="228981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Layout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3657600" y="4171950"/>
            <a:ext cx="3371850" cy="104775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14775" y="4391025"/>
            <a:ext cx="295865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Column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7105650" y="4171950"/>
            <a:ext cx="3371850" cy="104775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53300" y="4381500"/>
            <a:ext cx="297770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Row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0553700" y="4171950"/>
            <a:ext cx="3371850" cy="104775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801350" y="4381500"/>
            <a:ext cx="297770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Column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4001750" y="4171950"/>
            <a:ext cx="3371850" cy="104775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258925" y="4391025"/>
            <a:ext cx="295865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Column + metadata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143000" y="5486400"/>
            <a:ext cx="2289810" cy="744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Mạnh về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3657600" y="5295900"/>
            <a:ext cx="3371850" cy="1087636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14775" y="5514975"/>
            <a:ext cx="2958656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 tích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7105650" y="5295900"/>
            <a:ext cx="3371850" cy="1087636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53300" y="5505450"/>
            <a:ext cx="2977706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Streaming, schema evolution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0553700" y="5295900"/>
            <a:ext cx="3371850" cy="1087636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801350" y="5505450"/>
            <a:ext cx="2977706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Hive ecosystem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14001750" y="5295900"/>
            <a:ext cx="3371850" cy="1087636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258925" y="5514975"/>
            <a:ext cx="2958656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ACID, time travel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143000" y="6650236"/>
            <a:ext cx="228981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Schema evolution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3657600" y="6459736"/>
            <a:ext cx="3371850" cy="104775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14775" y="6678811"/>
            <a:ext cx="295865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 cột; đổi kiểu khó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7105650" y="6459736"/>
            <a:ext cx="3371850" cy="104775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53300" y="6669286"/>
            <a:ext cx="297770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Tốt, schema đi kèm file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10553700" y="6459736"/>
            <a:ext cx="3371850" cy="104775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801350" y="6669286"/>
            <a:ext cx="297770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 cột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4001750" y="6459736"/>
            <a:ext cx="3371850" cy="104775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258925" y="6678811"/>
            <a:ext cx="295865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Đầy đủ, có version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1143000" y="7774186"/>
            <a:ext cx="228981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 dự án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3657600" y="7583686"/>
            <a:ext cx="3371850" cy="104775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14775" y="7802761"/>
            <a:ext cx="295865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Lake silver / gold</a:t>
            </a:r>
            <a:endParaRPr lang="en-US" sz="1950" dirty="0"/>
          </a:p>
        </p:txBody>
      </p:sp>
      <p:sp>
        <p:nvSpPr>
          <p:cNvPr id="43" name="Shape 41"/>
          <p:cNvSpPr/>
          <p:nvPr/>
        </p:nvSpPr>
        <p:spPr>
          <a:xfrm>
            <a:off x="7105650" y="7583686"/>
            <a:ext cx="3371850" cy="104775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53300" y="7793236"/>
            <a:ext cx="297770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Kafka message</a:t>
            </a:r>
            <a:endParaRPr lang="en-US" sz="1950" dirty="0"/>
          </a:p>
        </p:txBody>
      </p:sp>
      <p:sp>
        <p:nvSpPr>
          <p:cNvPr id="45" name="Shape 43"/>
          <p:cNvSpPr/>
          <p:nvPr/>
        </p:nvSpPr>
        <p:spPr>
          <a:xfrm>
            <a:off x="10553700" y="7583686"/>
            <a:ext cx="3371850" cy="104775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801350" y="7793236"/>
            <a:ext cx="297770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Ít gặp</a:t>
            </a:r>
            <a:endParaRPr lang="en-US" sz="1950" dirty="0"/>
          </a:p>
        </p:txBody>
      </p:sp>
      <p:sp>
        <p:nvSpPr>
          <p:cNvPr id="47" name="Shape 45"/>
          <p:cNvSpPr/>
          <p:nvPr/>
        </p:nvSpPr>
        <p:spPr>
          <a:xfrm>
            <a:off x="14001750" y="7583686"/>
            <a:ext cx="3371850" cy="104775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4258925" y="7802761"/>
            <a:ext cx="295865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Lakehouse, từ video 17</a:t>
            </a:r>
            <a:endParaRPr lang="en-US" sz="1950" dirty="0"/>
          </a:p>
        </p:txBody>
      </p:sp>
      <p:sp>
        <p:nvSpPr>
          <p:cNvPr id="49" name="Text 47"/>
          <p:cNvSpPr/>
          <p:nvPr/>
        </p:nvSpPr>
        <p:spPr>
          <a:xfrm>
            <a:off x="16677680" y="9424988"/>
            <a:ext cx="77212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06/14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0" y="10172700"/>
            <a:ext cx="7839075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426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712339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Predicate pushdown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6133185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WHERE đẩy xuống tầng đọc file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5886063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 min/max để bỏ row group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83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4874821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 đọc cột trong SELECT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936456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795963"/>
            <a:ext cx="7844046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Hiệu quả khi dữ liệu được sort theo cột lọc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712208" y="9424988"/>
            <a:ext cx="73759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07/14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91440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426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735070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Partitioning trên lake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1156716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pos/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14400" y="3486150"/>
            <a:ext cx="1156716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dt=2026-10-31/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3924300"/>
            <a:ext cx="1156716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├── store=HN01/ part-0.parquet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4362450"/>
            <a:ext cx="1156716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└── store=SG01/ part-0.parquet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4800600"/>
            <a:ext cx="1156716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b="1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dt=2026-11-01/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5238750"/>
            <a:ext cx="1156716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b="1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├── store=HN01/ part-0.parquet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5676900"/>
            <a:ext cx="1156716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b="1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└── store=SG01/ part-0.parquet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6115050"/>
            <a:ext cx="1156716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└── dt=2026-11-02/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14400" y="6553200"/>
            <a:ext cx="1156716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store=HN01/ part-0.parquet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14400" y="6991350"/>
            <a:ext cx="1156716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14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└── store=SG01/ part-0.parquet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2039600" y="3048000"/>
            <a:ext cx="5334000" cy="1497285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15" name="Shape 13"/>
          <p:cNvSpPr/>
          <p:nvPr/>
        </p:nvSpPr>
        <p:spPr>
          <a:xfrm>
            <a:off x="12039600" y="3048000"/>
            <a:ext cx="57150" cy="1497285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6" name="Text 14"/>
          <p:cNvSpPr/>
          <p:nvPr/>
        </p:nvSpPr>
        <p:spPr>
          <a:xfrm>
            <a:off x="12401550" y="3276600"/>
            <a:ext cx="513397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507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SUM(amount)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2401550" y="3623295"/>
            <a:ext cx="513397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507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pos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2401550" y="3969990"/>
            <a:ext cx="4667250" cy="34669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9" name="Text 17"/>
          <p:cNvSpPr/>
          <p:nvPr/>
        </p:nvSpPr>
        <p:spPr>
          <a:xfrm>
            <a:off x="12401550" y="3969990"/>
            <a:ext cx="513397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507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 dt = '2026-11-01'</a:t>
            </a:r>
            <a:endParaRPr lang="en-US" sz="19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39600" y="4790554"/>
            <a:ext cx="609600" cy="3048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801600" y="4773885"/>
            <a:ext cx="2501912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 chạm 1 nhánh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12039600" y="5340623"/>
            <a:ext cx="58674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33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 nhánh còn lại không mở file nào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1440" y="8543925"/>
            <a:ext cx="1810512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Partition theo cột hay lọc, không theo cột có hàng triệu giá trị.</a:t>
            </a:r>
            <a:endParaRPr lang="en-US" sz="2550" dirty="0"/>
          </a:p>
        </p:txBody>
      </p:sp>
      <p:sp>
        <p:nvSpPr>
          <p:cNvPr id="24" name="Text 21"/>
          <p:cNvSpPr/>
          <p:nvPr/>
        </p:nvSpPr>
        <p:spPr>
          <a:xfrm>
            <a:off x="16686163" y="9424988"/>
            <a:ext cx="76363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08/14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0" y="10172700"/>
            <a:ext cx="10448925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426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46560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Small-file problem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238500"/>
            <a:ext cx="854964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5.000 file × 10 KB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3852863"/>
            <a:ext cx="7772400" cy="28575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5375" y="4033837"/>
            <a:ext cx="334268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467743" y="4033837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840185" y="4033837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212628" y="4033837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585070" y="4033837"/>
            <a:ext cx="334268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957438" y="4033837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329880" y="4033837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702323" y="4033837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074765" y="4033837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447208" y="4033837"/>
            <a:ext cx="334268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819576" y="4033837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192018" y="4033837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564460" y="4033837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936903" y="4033837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45" y="4033837"/>
            <a:ext cx="334268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681713" y="4033837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054155" y="4033837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426598" y="4033837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799040" y="4033837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171483" y="4033837"/>
            <a:ext cx="334268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95375" y="4350544"/>
            <a:ext cx="334268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467743" y="4350544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840185" y="4350544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212628" y="4350544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585070" y="4350544"/>
            <a:ext cx="334268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957438" y="4350544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329880" y="4350544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702323" y="4350544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074765" y="4350544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47208" y="4350544"/>
            <a:ext cx="334268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819576" y="4350544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192018" y="4350544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64460" y="4350544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936903" y="4350544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309345" y="4350544"/>
            <a:ext cx="334268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681713" y="4350544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054155" y="4350544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426598" y="4350544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799040" y="4350544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171483" y="4350544"/>
            <a:ext cx="334268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95375" y="4667250"/>
            <a:ext cx="334268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467743" y="4667250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840185" y="4667250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2212628" y="4667250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2585070" y="4667250"/>
            <a:ext cx="334268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2957438" y="4667250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3329880" y="4667250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3702323" y="4667250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4074765" y="4667250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4447208" y="4667250"/>
            <a:ext cx="334268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4819576" y="4667250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5192018" y="4667250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564460" y="4667250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5936903" y="4667250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309345" y="4667250"/>
            <a:ext cx="334268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681713" y="4667250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054155" y="4667250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426598" y="4667250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799040" y="4667250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171483" y="4667250"/>
            <a:ext cx="334268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1095375" y="4983956"/>
            <a:ext cx="334268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1467743" y="4983956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1840185" y="4983956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2212628" y="4983956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2585070" y="4983956"/>
            <a:ext cx="334268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2957438" y="4983956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3329880" y="4983956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3702323" y="4983956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4074765" y="4983956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4447208" y="4983956"/>
            <a:ext cx="334268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4819576" y="4983956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5192018" y="4983956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5564460" y="4983956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5936903" y="4983956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6309345" y="4983956"/>
            <a:ext cx="334268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6681713" y="4983956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7054155" y="4983956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7426598" y="4983956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7799040" y="4983956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8171483" y="4983956"/>
            <a:ext cx="334268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1095375" y="5300663"/>
            <a:ext cx="334268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1467743" y="5300663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1840185" y="5300663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2212628" y="5300663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2585070" y="5300663"/>
            <a:ext cx="334268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2957438" y="5300663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3329880" y="5300663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3702323" y="5300663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4074765" y="5300663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4447208" y="5300663"/>
            <a:ext cx="334268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4819576" y="5300663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5192018" y="5300663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5564460" y="5300663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5936903" y="5300663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6309345" y="5300663"/>
            <a:ext cx="334268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6681713" y="5300663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7054155" y="5300663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7426598" y="5300663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7799040" y="5300663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8171483" y="5300663"/>
            <a:ext cx="334268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>
            <a:off x="1095375" y="5617369"/>
            <a:ext cx="334268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1467743" y="5617369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1840185" y="5617369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09" name="Shape 107"/>
          <p:cNvSpPr/>
          <p:nvPr/>
        </p:nvSpPr>
        <p:spPr>
          <a:xfrm>
            <a:off x="2212628" y="5617369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10" name="Shape 108"/>
          <p:cNvSpPr/>
          <p:nvPr/>
        </p:nvSpPr>
        <p:spPr>
          <a:xfrm>
            <a:off x="2585070" y="5617369"/>
            <a:ext cx="334268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11" name="Shape 109"/>
          <p:cNvSpPr/>
          <p:nvPr/>
        </p:nvSpPr>
        <p:spPr>
          <a:xfrm>
            <a:off x="2957438" y="5617369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12" name="Shape 110"/>
          <p:cNvSpPr/>
          <p:nvPr/>
        </p:nvSpPr>
        <p:spPr>
          <a:xfrm>
            <a:off x="3329880" y="5617369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13" name="Shape 111"/>
          <p:cNvSpPr/>
          <p:nvPr/>
        </p:nvSpPr>
        <p:spPr>
          <a:xfrm>
            <a:off x="3702323" y="5617369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14" name="Shape 112"/>
          <p:cNvSpPr/>
          <p:nvPr/>
        </p:nvSpPr>
        <p:spPr>
          <a:xfrm>
            <a:off x="4074765" y="5617369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15" name="Shape 113"/>
          <p:cNvSpPr/>
          <p:nvPr/>
        </p:nvSpPr>
        <p:spPr>
          <a:xfrm>
            <a:off x="4447208" y="5617369"/>
            <a:ext cx="334268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16" name="Shape 114"/>
          <p:cNvSpPr/>
          <p:nvPr/>
        </p:nvSpPr>
        <p:spPr>
          <a:xfrm>
            <a:off x="4819576" y="5617369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17" name="Shape 115"/>
          <p:cNvSpPr/>
          <p:nvPr/>
        </p:nvSpPr>
        <p:spPr>
          <a:xfrm>
            <a:off x="5192018" y="5617369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18" name="Shape 116"/>
          <p:cNvSpPr/>
          <p:nvPr/>
        </p:nvSpPr>
        <p:spPr>
          <a:xfrm>
            <a:off x="5564460" y="5617369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19" name="Shape 117"/>
          <p:cNvSpPr/>
          <p:nvPr/>
        </p:nvSpPr>
        <p:spPr>
          <a:xfrm>
            <a:off x="5936903" y="5617369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20" name="Shape 118"/>
          <p:cNvSpPr/>
          <p:nvPr/>
        </p:nvSpPr>
        <p:spPr>
          <a:xfrm>
            <a:off x="6309345" y="5617369"/>
            <a:ext cx="334268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21" name="Shape 119"/>
          <p:cNvSpPr/>
          <p:nvPr/>
        </p:nvSpPr>
        <p:spPr>
          <a:xfrm>
            <a:off x="6681713" y="5617369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22" name="Shape 120"/>
          <p:cNvSpPr/>
          <p:nvPr/>
        </p:nvSpPr>
        <p:spPr>
          <a:xfrm>
            <a:off x="7054155" y="5617369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23" name="Shape 121"/>
          <p:cNvSpPr/>
          <p:nvPr/>
        </p:nvSpPr>
        <p:spPr>
          <a:xfrm>
            <a:off x="7426598" y="5617369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24" name="Shape 122"/>
          <p:cNvSpPr/>
          <p:nvPr/>
        </p:nvSpPr>
        <p:spPr>
          <a:xfrm>
            <a:off x="7799040" y="5617369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25" name="Shape 123"/>
          <p:cNvSpPr/>
          <p:nvPr/>
        </p:nvSpPr>
        <p:spPr>
          <a:xfrm>
            <a:off x="8171483" y="5617369"/>
            <a:ext cx="334268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26" name="Shape 124"/>
          <p:cNvSpPr/>
          <p:nvPr/>
        </p:nvSpPr>
        <p:spPr>
          <a:xfrm>
            <a:off x="1095375" y="5934075"/>
            <a:ext cx="334268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27" name="Shape 125"/>
          <p:cNvSpPr/>
          <p:nvPr/>
        </p:nvSpPr>
        <p:spPr>
          <a:xfrm>
            <a:off x="1467743" y="5934075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28" name="Shape 126"/>
          <p:cNvSpPr/>
          <p:nvPr/>
        </p:nvSpPr>
        <p:spPr>
          <a:xfrm>
            <a:off x="1840185" y="5934075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29" name="Shape 127"/>
          <p:cNvSpPr/>
          <p:nvPr/>
        </p:nvSpPr>
        <p:spPr>
          <a:xfrm>
            <a:off x="2212628" y="5934075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30" name="Shape 128"/>
          <p:cNvSpPr/>
          <p:nvPr/>
        </p:nvSpPr>
        <p:spPr>
          <a:xfrm>
            <a:off x="2585070" y="5934075"/>
            <a:ext cx="334268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31" name="Shape 129"/>
          <p:cNvSpPr/>
          <p:nvPr/>
        </p:nvSpPr>
        <p:spPr>
          <a:xfrm>
            <a:off x="2957438" y="5934075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32" name="Shape 130"/>
          <p:cNvSpPr/>
          <p:nvPr/>
        </p:nvSpPr>
        <p:spPr>
          <a:xfrm>
            <a:off x="3329880" y="5934075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33" name="Shape 131"/>
          <p:cNvSpPr/>
          <p:nvPr/>
        </p:nvSpPr>
        <p:spPr>
          <a:xfrm>
            <a:off x="3702323" y="5934075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34" name="Shape 132"/>
          <p:cNvSpPr/>
          <p:nvPr/>
        </p:nvSpPr>
        <p:spPr>
          <a:xfrm>
            <a:off x="4074765" y="5934075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35" name="Shape 133"/>
          <p:cNvSpPr/>
          <p:nvPr/>
        </p:nvSpPr>
        <p:spPr>
          <a:xfrm>
            <a:off x="4447208" y="5934075"/>
            <a:ext cx="334268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36" name="Shape 134"/>
          <p:cNvSpPr/>
          <p:nvPr/>
        </p:nvSpPr>
        <p:spPr>
          <a:xfrm>
            <a:off x="4819576" y="5934075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37" name="Shape 135"/>
          <p:cNvSpPr/>
          <p:nvPr/>
        </p:nvSpPr>
        <p:spPr>
          <a:xfrm>
            <a:off x="5192018" y="5934075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38" name="Shape 136"/>
          <p:cNvSpPr/>
          <p:nvPr/>
        </p:nvSpPr>
        <p:spPr>
          <a:xfrm>
            <a:off x="5564460" y="5934075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39" name="Shape 137"/>
          <p:cNvSpPr/>
          <p:nvPr/>
        </p:nvSpPr>
        <p:spPr>
          <a:xfrm>
            <a:off x="5936903" y="5934075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40" name="Shape 138"/>
          <p:cNvSpPr/>
          <p:nvPr/>
        </p:nvSpPr>
        <p:spPr>
          <a:xfrm>
            <a:off x="6309345" y="5934075"/>
            <a:ext cx="334268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41" name="Shape 139"/>
          <p:cNvSpPr/>
          <p:nvPr/>
        </p:nvSpPr>
        <p:spPr>
          <a:xfrm>
            <a:off x="6681713" y="5934075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42" name="Shape 140"/>
          <p:cNvSpPr/>
          <p:nvPr/>
        </p:nvSpPr>
        <p:spPr>
          <a:xfrm>
            <a:off x="7054155" y="5934075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43" name="Shape 141"/>
          <p:cNvSpPr/>
          <p:nvPr/>
        </p:nvSpPr>
        <p:spPr>
          <a:xfrm>
            <a:off x="7426598" y="5934075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44" name="Shape 142"/>
          <p:cNvSpPr/>
          <p:nvPr/>
        </p:nvSpPr>
        <p:spPr>
          <a:xfrm>
            <a:off x="7799040" y="5934075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45" name="Shape 143"/>
          <p:cNvSpPr/>
          <p:nvPr/>
        </p:nvSpPr>
        <p:spPr>
          <a:xfrm>
            <a:off x="8171483" y="5934075"/>
            <a:ext cx="334268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46" name="Shape 144"/>
          <p:cNvSpPr/>
          <p:nvPr/>
        </p:nvSpPr>
        <p:spPr>
          <a:xfrm>
            <a:off x="1095375" y="6250781"/>
            <a:ext cx="334268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47" name="Shape 145"/>
          <p:cNvSpPr/>
          <p:nvPr/>
        </p:nvSpPr>
        <p:spPr>
          <a:xfrm>
            <a:off x="1467743" y="6250781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48" name="Shape 146"/>
          <p:cNvSpPr/>
          <p:nvPr/>
        </p:nvSpPr>
        <p:spPr>
          <a:xfrm>
            <a:off x="1840185" y="6250781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49" name="Shape 147"/>
          <p:cNvSpPr/>
          <p:nvPr/>
        </p:nvSpPr>
        <p:spPr>
          <a:xfrm>
            <a:off x="2212628" y="6250781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50" name="Shape 148"/>
          <p:cNvSpPr/>
          <p:nvPr/>
        </p:nvSpPr>
        <p:spPr>
          <a:xfrm>
            <a:off x="2585070" y="6250781"/>
            <a:ext cx="334268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51" name="Shape 149"/>
          <p:cNvSpPr/>
          <p:nvPr/>
        </p:nvSpPr>
        <p:spPr>
          <a:xfrm>
            <a:off x="2957438" y="6250781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52" name="Shape 150"/>
          <p:cNvSpPr/>
          <p:nvPr/>
        </p:nvSpPr>
        <p:spPr>
          <a:xfrm>
            <a:off x="3329880" y="6250781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53" name="Shape 151"/>
          <p:cNvSpPr/>
          <p:nvPr/>
        </p:nvSpPr>
        <p:spPr>
          <a:xfrm>
            <a:off x="3702323" y="6250781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54" name="Shape 152"/>
          <p:cNvSpPr/>
          <p:nvPr/>
        </p:nvSpPr>
        <p:spPr>
          <a:xfrm>
            <a:off x="4074765" y="6250781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55" name="Shape 153"/>
          <p:cNvSpPr/>
          <p:nvPr/>
        </p:nvSpPr>
        <p:spPr>
          <a:xfrm>
            <a:off x="4447208" y="6250781"/>
            <a:ext cx="334268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56" name="Shape 154"/>
          <p:cNvSpPr/>
          <p:nvPr/>
        </p:nvSpPr>
        <p:spPr>
          <a:xfrm>
            <a:off x="4819576" y="6250781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57" name="Shape 155"/>
          <p:cNvSpPr/>
          <p:nvPr/>
        </p:nvSpPr>
        <p:spPr>
          <a:xfrm>
            <a:off x="5192018" y="6250781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58" name="Shape 156"/>
          <p:cNvSpPr/>
          <p:nvPr/>
        </p:nvSpPr>
        <p:spPr>
          <a:xfrm>
            <a:off x="5564460" y="6250781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59" name="Shape 157"/>
          <p:cNvSpPr/>
          <p:nvPr/>
        </p:nvSpPr>
        <p:spPr>
          <a:xfrm>
            <a:off x="5936903" y="6250781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60" name="Shape 158"/>
          <p:cNvSpPr/>
          <p:nvPr/>
        </p:nvSpPr>
        <p:spPr>
          <a:xfrm>
            <a:off x="6309345" y="6250781"/>
            <a:ext cx="334268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61" name="Shape 159"/>
          <p:cNvSpPr/>
          <p:nvPr/>
        </p:nvSpPr>
        <p:spPr>
          <a:xfrm>
            <a:off x="6681713" y="6250781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62" name="Shape 160"/>
          <p:cNvSpPr/>
          <p:nvPr/>
        </p:nvSpPr>
        <p:spPr>
          <a:xfrm>
            <a:off x="7054155" y="6250781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63" name="Shape 161"/>
          <p:cNvSpPr/>
          <p:nvPr/>
        </p:nvSpPr>
        <p:spPr>
          <a:xfrm>
            <a:off x="7426598" y="6250781"/>
            <a:ext cx="334342" cy="278606"/>
          </a:xfrm>
          <a:prstGeom prst="rect">
            <a:avLst/>
          </a:prstGeom>
          <a:solidFill>
            <a:srgbClr val="1FA7A0">
              <a:alpha val="60000"/>
            </a:srgbClr>
          </a:solidFill>
          <a:ln/>
        </p:spPr>
      </p:sp>
      <p:sp>
        <p:nvSpPr>
          <p:cNvPr id="164" name="Text 162"/>
          <p:cNvSpPr/>
          <p:nvPr/>
        </p:nvSpPr>
        <p:spPr>
          <a:xfrm>
            <a:off x="914400" y="6938963"/>
            <a:ext cx="854964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5.000 lần mở file, 5.000 footer phải đọc</a:t>
            </a:r>
            <a:endParaRPr lang="en-US" sz="1800" dirty="0"/>
          </a:p>
        </p:txBody>
      </p:sp>
      <p:sp>
        <p:nvSpPr>
          <p:cNvPr id="165" name="Text 163"/>
          <p:cNvSpPr/>
          <p:nvPr/>
        </p:nvSpPr>
        <p:spPr>
          <a:xfrm>
            <a:off x="9601200" y="3238500"/>
            <a:ext cx="854964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 file × 10 MB</a:t>
            </a:r>
            <a:endParaRPr lang="en-US" sz="2400" dirty="0"/>
          </a:p>
        </p:txBody>
      </p:sp>
      <p:sp>
        <p:nvSpPr>
          <p:cNvPr id="166" name="Shape 164"/>
          <p:cNvSpPr/>
          <p:nvPr/>
        </p:nvSpPr>
        <p:spPr>
          <a:xfrm>
            <a:off x="9601200" y="3852863"/>
            <a:ext cx="7772400" cy="28575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9782175" y="4033837"/>
            <a:ext cx="1390650" cy="24955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9772650" y="4062412"/>
            <a:ext cx="1409700" cy="2476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part-0</a:t>
            </a:r>
            <a:endParaRPr lang="en-US" sz="1650" dirty="0"/>
          </a:p>
        </p:txBody>
      </p:sp>
      <p:sp>
        <p:nvSpPr>
          <p:cNvPr id="169" name="Shape 167"/>
          <p:cNvSpPr/>
          <p:nvPr/>
        </p:nvSpPr>
        <p:spPr>
          <a:xfrm>
            <a:off x="11287125" y="4033837"/>
            <a:ext cx="1390650" cy="24955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11277600" y="4062412"/>
            <a:ext cx="1409700" cy="2476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part-1</a:t>
            </a:r>
            <a:endParaRPr lang="en-US" sz="1650" dirty="0"/>
          </a:p>
        </p:txBody>
      </p:sp>
      <p:sp>
        <p:nvSpPr>
          <p:cNvPr id="171" name="Shape 169"/>
          <p:cNvSpPr/>
          <p:nvPr/>
        </p:nvSpPr>
        <p:spPr>
          <a:xfrm>
            <a:off x="12792075" y="4033837"/>
            <a:ext cx="1390650" cy="24955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12782550" y="4062412"/>
            <a:ext cx="1409700" cy="2476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part-2</a:t>
            </a:r>
            <a:endParaRPr lang="en-US" sz="1650" dirty="0"/>
          </a:p>
        </p:txBody>
      </p:sp>
      <p:sp>
        <p:nvSpPr>
          <p:cNvPr id="173" name="Shape 171"/>
          <p:cNvSpPr/>
          <p:nvPr/>
        </p:nvSpPr>
        <p:spPr>
          <a:xfrm>
            <a:off x="14297025" y="4033837"/>
            <a:ext cx="1390650" cy="24955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14287500" y="4062412"/>
            <a:ext cx="1409700" cy="2476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part-3</a:t>
            </a:r>
            <a:endParaRPr lang="en-US" sz="1650" dirty="0"/>
          </a:p>
        </p:txBody>
      </p:sp>
      <p:sp>
        <p:nvSpPr>
          <p:cNvPr id="175" name="Shape 173"/>
          <p:cNvSpPr/>
          <p:nvPr/>
        </p:nvSpPr>
        <p:spPr>
          <a:xfrm>
            <a:off x="15801975" y="4033837"/>
            <a:ext cx="1390650" cy="24955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15792450" y="4062412"/>
            <a:ext cx="1409700" cy="2476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part-4</a:t>
            </a:r>
            <a:endParaRPr lang="en-US" sz="1650" dirty="0"/>
          </a:p>
        </p:txBody>
      </p:sp>
      <p:sp>
        <p:nvSpPr>
          <p:cNvPr id="177" name="Text 175"/>
          <p:cNvSpPr/>
          <p:nvPr/>
        </p:nvSpPr>
        <p:spPr>
          <a:xfrm>
            <a:off x="9601200" y="6938963"/>
            <a:ext cx="854964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 50 MB dữ liệu, 5 lần mở file</a:t>
            </a:r>
            <a:endParaRPr lang="en-US" sz="1800" dirty="0"/>
          </a:p>
        </p:txBody>
      </p:sp>
      <p:sp>
        <p:nvSpPr>
          <p:cNvPr id="178" name="Text 176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 tiêu 128 MB – 1 GB mỗi file.</a:t>
            </a:r>
            <a:endParaRPr lang="en-US" sz="2700" dirty="0"/>
          </a:p>
        </p:txBody>
      </p:sp>
      <p:sp>
        <p:nvSpPr>
          <p:cNvPr id="179" name="Text 177"/>
          <p:cNvSpPr/>
          <p:nvPr/>
        </p:nvSpPr>
        <p:spPr>
          <a:xfrm>
            <a:off x="16677680" y="9424988"/>
            <a:ext cx="77212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09/14</a:t>
            </a:r>
            <a:endParaRPr lang="en-US" sz="1800" dirty="0"/>
          </a:p>
        </p:txBody>
      </p:sp>
      <p:sp>
        <p:nvSpPr>
          <p:cNvPr id="180" name="Shape 178"/>
          <p:cNvSpPr/>
          <p:nvPr/>
        </p:nvSpPr>
        <p:spPr>
          <a:xfrm>
            <a:off x="0" y="10172700"/>
            <a:ext cx="1175385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426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785362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 Parquet đúng cách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4836468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57150" cy="4836468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3105150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polars as pl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52550" y="3503265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52550" y="3901380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df = pl.scan_parquet("bronze/pos/*.parquet").collect()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52550" y="4299496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52550" y="4697611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df.sort("store_id", "ts").write_parquet(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52550" y="5095726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"silver/pos/",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71550" y="5474791"/>
            <a:ext cx="16402050" cy="39811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3" name="Text 11"/>
          <p:cNvSpPr/>
          <p:nvPr/>
        </p:nvSpPr>
        <p:spPr>
          <a:xfrm>
            <a:off x="1352550" y="5493841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compression="zstd",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52550" y="5891957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row_group_size=1_000_000,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52550" y="6290072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partition_by=["dt"],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52550" y="6688187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statistics=True,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52550" y="7086302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14400" y="8710613"/>
            <a:ext cx="11301212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Zstd cho lưu lâu, Snappy cho dữ liệu đọc nóng. Sort trước để min/max hữu ích.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6741229" y="9424988"/>
            <a:ext cx="7085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10/14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10172700"/>
            <a:ext cx="13058775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426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401803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 hay gặp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SAI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372600" y="30480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3802335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Partition theo customer_id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372600" y="3802335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Partition theo ngày, cluster theo store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461002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 file mỗi phút rồi để đó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372600" y="461002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Compaction định kỳ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541771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CSV cho tầng silver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372600" y="541771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Parquet từ bronze trở đi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622540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 JSON thô làm nguồn phân tích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372600" y="622540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Flatten sang Parquet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804556" y="9424988"/>
            <a:ext cx="64524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11/14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10172700"/>
            <a:ext cx="14373225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426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205739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Lab #08 — Benchmark 4 định dạng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23850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790700" y="3331369"/>
            <a:ext cx="3676047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 10 triệu dòng POS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40957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40957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90700" y="4188619"/>
            <a:ext cx="787007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 ra CSV, JSON, Avro, Parquet (snappy, zstd)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495300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495300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90700" y="5045869"/>
            <a:ext cx="383828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 dung lượng từng file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" y="58102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58102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790700" y="5903119"/>
            <a:ext cx="7653159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 cùng 3 query bằng DuckDB, đo thời gian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666750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666750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790700" y="6760369"/>
            <a:ext cx="507749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 bảng kết quả vào README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2039600" y="3238500"/>
            <a:ext cx="5334000" cy="2938463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449175" y="3648075"/>
            <a:ext cx="496633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 QUẢ MONG ĐỢI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449175" y="4167188"/>
            <a:ext cx="465029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Parquet-zstd </a:t>
            </a:r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nhỏ nhất, query nhanh nhất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449175" y="5310188"/>
            <a:ext cx="496633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JSON lớn nhất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6748596" y="9424988"/>
            <a:ext cx="7012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12/14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0" y="10172700"/>
            <a:ext cx="1567815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426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035325" y="3975274"/>
            <a:ext cx="421727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 HỎI PHỎNG VẤN #08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56926" y="4722986"/>
            <a:ext cx="14374148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4815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Parquet khác Avro, khi nào dùng cái nào?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627792" y="5911676"/>
            <a:ext cx="903234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310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Column cho phân tích, row cho từng bản ghi truyền qua Kafka.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750382" y="9424988"/>
            <a:ext cx="69941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13/14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172700"/>
            <a:ext cx="16983075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426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5387682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00" kern="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VIDEO TIẾP THEO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14400" y="3157538"/>
            <a:ext cx="2311762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12"/>
              </a:lnSpc>
              <a:buNone/>
            </a:pPr>
            <a:r>
              <a:rPr lang="en-US" sz="12000" b="1" spc="-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09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473202" y="3905250"/>
            <a:ext cx="11772900" cy="1440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64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Lake trên S3: tổ chức bronze / silver / gold chuẩn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5650111"/>
            <a:ext cx="15387682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 Ba 1/12 · 19:00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6654998"/>
            <a:ext cx="2344266" cy="842963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1447800" y="6883598"/>
            <a:ext cx="135366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 ký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735797" y="9424988"/>
            <a:ext cx="71400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14/14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0" y="10172700"/>
            <a:ext cx="182880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2026-10-22T10:18:33Z</dcterms:created>
  <dcterms:modified xsi:type="dcterms:W3CDTF">2026-10-22T10:18:33Z</dcterms:modified>
</cp:coreProperties>
</file>