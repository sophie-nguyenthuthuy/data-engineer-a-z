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43663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4366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 dữ liệu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734366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 đại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734366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OLTP · OLAP · Warehouse · Lake · Lakehouse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43100" y="3364706"/>
            <a:ext cx="267544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OLTP vs OLAP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3434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43100" y="4469606"/>
            <a:ext cx="322273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 vs Columnar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4483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4483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5574506"/>
            <a:ext cx="614636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Warehouse → Lake → Lakehouse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5532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5532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43100" y="6679406"/>
            <a:ext cx="337817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Lambda vs Kappa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6581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6581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43100" y="7784306"/>
            <a:ext cx="713722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 tham chiếu cho dự án cà phê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90117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OLTP vs OLAP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8100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800600" y="3048000"/>
            <a:ext cx="62484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5105400" y="3238500"/>
            <a:ext cx="58262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OLTP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125200" y="3048000"/>
            <a:ext cx="62484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3238500"/>
            <a:ext cx="58262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OLAP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9200" y="4267200"/>
            <a:ext cx="3314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 đích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800600" y="40767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4450" y="42862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giao dịch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125200" y="40767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49050" y="42862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tích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19200" y="5295900"/>
            <a:ext cx="3314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truy vấn điển hình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800600" y="51054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4450" y="53149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đơn hàng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125200" y="51054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49050" y="53149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Doanh thu 90 ngày theo cửa hàng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19200" y="6324600"/>
            <a:ext cx="3314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dòng chạm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4800600" y="61341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4450" y="63436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125200" y="61341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49050" y="63436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 triệu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19200" y="7353300"/>
            <a:ext cx="3314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 ưu cho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4800600" y="71628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4450" y="73723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Write, index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1125200" y="71628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49050" y="73723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Scan, aggregate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19200" y="8382000"/>
            <a:ext cx="3314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4800600" y="81915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4450" y="84010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PostgreSQL, MySQL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1125200" y="81915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49050" y="84010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BigQuery, ClickHouse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89564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 vs Columnar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85496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Row store · PostgreSQL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852863"/>
            <a:ext cx="1900238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986213"/>
            <a:ext cx="170973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71788" y="3852863"/>
            <a:ext cx="1900238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8" name="Text 6"/>
          <p:cNvSpPr/>
          <p:nvPr/>
        </p:nvSpPr>
        <p:spPr>
          <a:xfrm>
            <a:off x="3005138" y="3986213"/>
            <a:ext cx="170973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29175" y="3852863"/>
            <a:ext cx="1900238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10" name="Text 8"/>
          <p:cNvSpPr/>
          <p:nvPr/>
        </p:nvSpPr>
        <p:spPr>
          <a:xfrm>
            <a:off x="4962525" y="3986213"/>
            <a:ext cx="170973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86563" y="3852863"/>
            <a:ext cx="1900238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12" name="Text 10"/>
          <p:cNvSpPr/>
          <p:nvPr/>
        </p:nvSpPr>
        <p:spPr>
          <a:xfrm>
            <a:off x="6919913" y="3986213"/>
            <a:ext cx="170973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amount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476750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6800" y="4629150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71788" y="4476750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24188" y="4629150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29175" y="4476750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1575" y="4629150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01-10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86563" y="4476750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8963" y="4629150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138738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6800" y="5291138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871788" y="5138738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24188" y="5291138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HN02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29175" y="5138738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1575" y="5291138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01-10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86563" y="5138738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38963" y="5291138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60k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400" y="5800725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800" y="5953125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871788" y="5800725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24188" y="5953125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829175" y="5800725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1575" y="5953125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02-10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786563" y="5800725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8963" y="5953125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30k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4400" y="6462713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6800" y="6615113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871788" y="6462713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24188" y="6615113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829175" y="6462713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1575" y="6615113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02-10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786563" y="6462713"/>
            <a:ext cx="1900238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8963" y="6615113"/>
            <a:ext cx="16716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55k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14400" y="7296150"/>
            <a:ext cx="854964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theo hàng: đọc cả 4 dòng, đủ 4 cột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601200" y="3238500"/>
            <a:ext cx="854964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Columnar · BigQuery, ClickHouse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9601200" y="3852863"/>
            <a:ext cx="1900238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48" name="Text 46"/>
          <p:cNvSpPr/>
          <p:nvPr/>
        </p:nvSpPr>
        <p:spPr>
          <a:xfrm>
            <a:off x="9734550" y="3986213"/>
            <a:ext cx="170973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558588" y="3852863"/>
            <a:ext cx="1900238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50" name="Text 48"/>
          <p:cNvSpPr/>
          <p:nvPr/>
        </p:nvSpPr>
        <p:spPr>
          <a:xfrm>
            <a:off x="11691938" y="3986213"/>
            <a:ext cx="170973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3515975" y="3852863"/>
            <a:ext cx="1900238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52" name="Text 50"/>
          <p:cNvSpPr/>
          <p:nvPr/>
        </p:nvSpPr>
        <p:spPr>
          <a:xfrm>
            <a:off x="13649325" y="3986213"/>
            <a:ext cx="170973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473363" y="3852863"/>
            <a:ext cx="1900238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54" name="Text 52"/>
          <p:cNvSpPr/>
          <p:nvPr/>
        </p:nvSpPr>
        <p:spPr>
          <a:xfrm>
            <a:off x="15606712" y="3986213"/>
            <a:ext cx="170973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amount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9601200" y="4476750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53600" y="4629150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558588" y="4476750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710988" y="4629150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HN01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3515975" y="4476750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668375" y="4629150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01-10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473363" y="4476750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635287" y="4638675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45k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601200" y="5157788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53600" y="5310188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558588" y="5157788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710988" y="5310188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HN02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3515975" y="5157788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668375" y="5310188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01-10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473363" y="5157788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5635287" y="5319713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60k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9601200" y="5838825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53600" y="5991225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1558588" y="5838825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710988" y="5991225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3515975" y="5838825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3668375" y="5991225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02-10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473363" y="5838825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635287" y="6000750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30k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9601200" y="6519863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753600" y="6672263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11558588" y="6519863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1710988" y="6672263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SG01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13515975" y="6519863"/>
            <a:ext cx="1900238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3668375" y="6672263"/>
            <a:ext cx="167163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02-10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15473363" y="6519863"/>
            <a:ext cx="1900238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635287" y="6681787"/>
            <a:ext cx="1652587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55k</a:t>
            </a:r>
            <a:endParaRPr lang="en-US" sz="1800" dirty="0"/>
          </a:p>
        </p:txBody>
      </p:sp>
      <p:pic>
        <p:nvPicPr>
          <p:cNvPr id="8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0" y="7396162"/>
            <a:ext cx="609600" cy="304800"/>
          </a:xfrm>
          <a:prstGeom prst="rect">
            <a:avLst/>
          </a:prstGeom>
        </p:spPr>
      </p:pic>
      <p:sp>
        <p:nvSpPr>
          <p:cNvPr id="88" name="Text 85"/>
          <p:cNvSpPr/>
          <p:nvPr/>
        </p:nvSpPr>
        <p:spPr>
          <a:xfrm>
            <a:off x="10363200" y="7372350"/>
            <a:ext cx="44005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SUM(amount) chỉ đọc 1 cột</a:t>
            </a:r>
            <a:endParaRPr lang="en-US" sz="2100" dirty="0"/>
          </a:p>
        </p:txBody>
      </p:sp>
      <p:sp>
        <p:nvSpPr>
          <p:cNvPr id="89" name="Text 86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Columnar đọc ít dữ liệu hơn cho câu hỏi phân tích.</a:t>
            </a:r>
            <a:endParaRPr lang="en-US" sz="2700" dirty="0"/>
          </a:p>
        </p:txBody>
      </p:sp>
      <p:sp>
        <p:nvSpPr>
          <p:cNvPr id="90" name="Text 87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91" name="Shape 88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6952976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sao không phân tích thẳng trên database vận hành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140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000500"/>
            <a:ext cx="412764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Khoá bảng, chậm app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993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852988"/>
            <a:ext cx="732925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thiết kế cho ghi, không cho hỏi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845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705475"/>
            <a:ext cx="301269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 sử bị ghi đè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98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6557963"/>
            <a:ext cx="541834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gộp được nhiều nguồn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01507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Warehouse </a:t>
            </a:r>
            <a:pPr algn="l" indent="0" marL="0">
              <a:buNone/>
            </a:pPr>
            <a:r>
              <a:rPr lang="en-US" sz="4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(1990s–)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790950"/>
            <a:ext cx="3048000" cy="8001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9675" y="4010025"/>
            <a:ext cx="25488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ERP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743450"/>
            <a:ext cx="3048000" cy="8001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9675" y="4962525"/>
            <a:ext cx="25488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CRM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695950"/>
            <a:ext cx="3048000" cy="8001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9675" y="5915025"/>
            <a:ext cx="25488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</a:t>
            </a:r>
            <a:endParaRPr lang="en-US" sz="2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2400" y="4857750"/>
            <a:ext cx="685800" cy="5715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48200" y="4162425"/>
            <a:ext cx="2857500" cy="1962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76540" y="4748213"/>
            <a:ext cx="67701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ETL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178028" y="5248275"/>
            <a:ext cx="197754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dọn, ép schema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5700" y="4857750"/>
            <a:ext cx="685800" cy="5715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191500" y="3619500"/>
            <a:ext cx="4191000" cy="3048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288438" y="4076700"/>
            <a:ext cx="219675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Warehouse</a:t>
            </a:r>
            <a:endParaRPr lang="en-US" sz="2700" dirty="0"/>
          </a:p>
        </p:txBody>
      </p:sp>
      <p:sp>
        <p:nvSpPr>
          <p:cNvPr id="17" name="Shape 13"/>
          <p:cNvSpPr/>
          <p:nvPr/>
        </p:nvSpPr>
        <p:spPr>
          <a:xfrm>
            <a:off x="8858250" y="4700588"/>
            <a:ext cx="914400" cy="304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829800" y="4700588"/>
            <a:ext cx="914400" cy="304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801350" y="4700588"/>
            <a:ext cx="914400" cy="304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858250" y="5062538"/>
            <a:ext cx="914400" cy="304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829800" y="5062538"/>
            <a:ext cx="914400" cy="304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801350" y="5062538"/>
            <a:ext cx="914400" cy="304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858250" y="5424488"/>
            <a:ext cx="914400" cy="304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829800" y="5424488"/>
            <a:ext cx="914400" cy="304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801350" y="5424488"/>
            <a:ext cx="914400" cy="304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319394" y="5919788"/>
            <a:ext cx="21286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có cấu trúc</a:t>
            </a:r>
            <a:endParaRPr lang="en-US" sz="1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82500" y="4857750"/>
            <a:ext cx="685800" cy="57150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13068300" y="4162425"/>
            <a:ext cx="3048000" cy="1962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4440049" y="4748213"/>
            <a:ext cx="38070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13433227" y="5248275"/>
            <a:ext cx="25498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 cáo, dashboard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Schema-on-write: dọn trước, hỏi sau.</a:t>
            </a:r>
            <a:endParaRPr lang="en-US" sz="2700" dirty="0"/>
          </a:p>
        </p:txBody>
      </p:sp>
      <p:sp>
        <p:nvSpPr>
          <p:cNvPr id="32" name="Text 27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33" name="Shape 28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8483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Lake </a:t>
            </a:r>
            <a:pPr algn="l" indent="0" marL="0">
              <a:buNone/>
            </a:pPr>
            <a:r>
              <a:rPr lang="en-US" sz="4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(2010s–)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093369"/>
            <a:ext cx="1647825" cy="7000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5375" y="4274344"/>
            <a:ext cx="128587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695575" y="4093369"/>
            <a:ext cx="1647825" cy="7000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76550" y="4274344"/>
            <a:ext cx="128587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926806"/>
            <a:ext cx="1647825" cy="7000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" y="5107781"/>
            <a:ext cx="128587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695575" y="4926806"/>
            <a:ext cx="1647825" cy="7000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6550" y="5107781"/>
            <a:ext cx="128587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760244"/>
            <a:ext cx="1647825" cy="7000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375" y="5941219"/>
            <a:ext cx="128587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CSV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695575" y="5760244"/>
            <a:ext cx="1647825" cy="7000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6550" y="5941219"/>
            <a:ext cx="128587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IoT</a:t>
            </a:r>
            <a:endParaRPr lang="en-US" sz="2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43400" y="4991100"/>
            <a:ext cx="914400" cy="5715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257800" y="3238500"/>
            <a:ext cx="7239000" cy="40767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6087" y="3812381"/>
            <a:ext cx="2224586" cy="519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Lake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150373" y="4445794"/>
            <a:ext cx="379915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 · HDFS · object storage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648376" y="5088731"/>
            <a:ext cx="1303065" cy="4905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9826" y="5183981"/>
            <a:ext cx="10363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parquet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065740" y="5088731"/>
            <a:ext cx="1028700" cy="4905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37190" y="5183981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.json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208740" y="5088731"/>
            <a:ext cx="891555" cy="4905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80190" y="5183981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.log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0214595" y="5088731"/>
            <a:ext cx="891555" cy="4905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386045" y="5183981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.csv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8431485" y="5693569"/>
            <a:ext cx="891555" cy="4905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02935" y="5788819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.jpg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915796" y="6450806"/>
            <a:ext cx="211530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 thô, chưa dọn</a:t>
            </a:r>
            <a:endParaRPr lang="en-US" sz="18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96800" y="4991100"/>
            <a:ext cx="914400" cy="57150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13411200" y="4324350"/>
            <a:ext cx="3962400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8020" y="4881563"/>
            <a:ext cx="150876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 lý sau</a:t>
            </a:r>
            <a:endParaRPr lang="en-US" sz="2400" dirty="0"/>
          </a:p>
        </p:txBody>
      </p:sp>
      <p:sp>
        <p:nvSpPr>
          <p:cNvPr id="34" name="Text 30"/>
          <p:cNvSpPr/>
          <p:nvPr/>
        </p:nvSpPr>
        <p:spPr>
          <a:xfrm>
            <a:off x="14088774" y="5381625"/>
            <a:ext cx="260717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Spark, khi có câu hỏi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Schema-on-read: chứa hết, rẻ, nhưng dễ thành đầm lầy.</a:t>
            </a:r>
            <a:endParaRPr lang="en-US" sz="2700" dirty="0"/>
          </a:p>
        </p:txBody>
      </p:sp>
      <p:sp>
        <p:nvSpPr>
          <p:cNvPr id="36" name="Text 32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14090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Lakehouse </a:t>
            </a:r>
            <a:pPr algn="l" indent="0" marL="0">
              <a:buNone/>
            </a:pPr>
            <a:r>
              <a:rPr lang="en-US" sz="4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(2020s–)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327350" cy="8001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5" y="3362325"/>
            <a:ext cx="298902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4432250" y="3143250"/>
            <a:ext cx="3327425" cy="8001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01414" y="3362325"/>
            <a:ext cx="298909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Trino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7950175" y="3143250"/>
            <a:ext cx="3327425" cy="8001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19339" y="3362325"/>
            <a:ext cx="298909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Flink · DuckDB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96240" y="4133850"/>
            <a:ext cx="113995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Engine — nhiều engine cùng đọc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4614863"/>
            <a:ext cx="10363200" cy="5334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5338763"/>
            <a:ext cx="10363200" cy="1019175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33500" y="5643563"/>
            <a:ext cx="236398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Table format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5516761" y="5679281"/>
            <a:ext cx="587591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 · Delta · Hudi — ACID, time travel</a:t>
            </a:r>
            <a:endParaRPr lang="en-US" sz="2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6548438"/>
            <a:ext cx="10363200" cy="381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14400" y="7119938"/>
            <a:ext cx="10363200" cy="10001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323975" y="7415213"/>
            <a:ext cx="184281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Lake</a:t>
            </a:r>
            <a:endParaRPr lang="en-US" sz="2550" dirty="0"/>
          </a:p>
        </p:txBody>
      </p:sp>
      <p:sp>
        <p:nvSpPr>
          <p:cNvPr id="18" name="Text 14"/>
          <p:cNvSpPr/>
          <p:nvPr/>
        </p:nvSpPr>
        <p:spPr>
          <a:xfrm>
            <a:off x="6824811" y="7450931"/>
            <a:ext cx="444753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 · parquet — một bản sao, rẻ</a:t>
            </a:r>
            <a:endParaRPr lang="en-US" sz="2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0" y="5345906"/>
            <a:ext cx="1524000" cy="5715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2801600" y="4376738"/>
            <a:ext cx="4572000" cy="250983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3211175" y="4786313"/>
            <a:ext cx="27496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13600435" y="4786313"/>
            <a:ext cx="191787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Rẻ như Lake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13211175" y="5438775"/>
            <a:ext cx="27496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13600435" y="5438775"/>
            <a:ext cx="3292350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ACID như Warehouse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13211175" y="6091238"/>
            <a:ext cx="27496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13600435" y="6091238"/>
            <a:ext cx="3003546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khoá engine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bản sao dữ liệu, nhiều engine đọc.</a:t>
            </a:r>
            <a:endParaRPr lang="en-US" sz="2700" dirty="0"/>
          </a:p>
        </p:txBody>
      </p:sp>
      <p:sp>
        <p:nvSpPr>
          <p:cNvPr id="28" name="Text 23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4893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Warehouse vs Lake vs Lakehouse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14325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133850" y="3048000"/>
            <a:ext cx="436245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400550" y="3238500"/>
            <a:ext cx="395992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Warehouse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572500" y="3048000"/>
            <a:ext cx="436245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8839200" y="3238500"/>
            <a:ext cx="395992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3011150" y="3048000"/>
            <a:ext cx="436245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3277850" y="3238500"/>
            <a:ext cx="395992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Lakehouse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1100" y="4267200"/>
            <a:ext cx="270414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 phí lưu trữ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133850" y="4076700"/>
            <a:ext cx="436245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9600" y="4286250"/>
            <a:ext cx="3921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572500" y="4076700"/>
            <a:ext cx="436245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0" y="4286250"/>
            <a:ext cx="3921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011150" y="4076700"/>
            <a:ext cx="436245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06425" y="4295775"/>
            <a:ext cx="39027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81100" y="5295900"/>
            <a:ext cx="270414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 dữ liệu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4133850" y="5105400"/>
            <a:ext cx="436245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9600" y="5314950"/>
            <a:ext cx="3921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cấu trúc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8572500" y="5105400"/>
            <a:ext cx="436245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8250" y="5314950"/>
            <a:ext cx="3921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loại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3011150" y="5105400"/>
            <a:ext cx="436245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306425" y="5324475"/>
            <a:ext cx="39027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loại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81100" y="6324600"/>
            <a:ext cx="270414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ACID &amp; time travel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4133850" y="6134100"/>
            <a:ext cx="436245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9600" y="6343650"/>
            <a:ext cx="3921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572500" y="6134100"/>
            <a:ext cx="436245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58250" y="6343650"/>
            <a:ext cx="3921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13011150" y="6134100"/>
            <a:ext cx="436245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6425" y="6353175"/>
            <a:ext cx="39027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(Iceberg / Delta)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81100" y="7353300"/>
            <a:ext cx="270414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Khoá vendor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4133850" y="7162800"/>
            <a:ext cx="436245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19600" y="7372350"/>
            <a:ext cx="3921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8572500" y="7162800"/>
            <a:ext cx="436245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58250" y="7372350"/>
            <a:ext cx="3921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13011150" y="7162800"/>
            <a:ext cx="436245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306425" y="7381875"/>
            <a:ext cx="39027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Thấp, format mở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181100" y="8382000"/>
            <a:ext cx="270414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chọn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4133850" y="8191500"/>
            <a:ext cx="436245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19600" y="8401050"/>
            <a:ext cx="3921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 thuần, team nhỏ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8572500" y="8191500"/>
            <a:ext cx="436245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58250" y="8401050"/>
            <a:ext cx="392182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thô, ML, log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13011150" y="8191500"/>
            <a:ext cx="436245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306425" y="8410575"/>
            <a:ext cx="39027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 + ML, nhiều engine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1624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Lambda vs Kappa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429000" cy="8001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419600" y="3048000"/>
            <a:ext cx="6438900" cy="8001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724400" y="3181350"/>
            <a:ext cx="60224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7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Lambda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934700" y="3048000"/>
            <a:ext cx="6438900" cy="8001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0" y="3181350"/>
            <a:ext cx="60224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7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Kappa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9200" y="4057650"/>
            <a:ext cx="292227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 dạng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419600" y="3924300"/>
            <a:ext cx="6438900" cy="1447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3450" y="4076700"/>
            <a:ext cx="4267200" cy="1143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34700" y="3924300"/>
            <a:ext cx="6438900" cy="14478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58550" y="4076700"/>
            <a:ext cx="4267200" cy="1143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19200" y="5581650"/>
            <a:ext cx="29222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đường xử lý</a:t>
            </a:r>
            <a:endParaRPr lang="en-US" sz="2100" dirty="0"/>
          </a:p>
        </p:txBody>
      </p:sp>
      <p:sp>
        <p:nvSpPr>
          <p:cNvPr id="15" name="Shape 11"/>
          <p:cNvSpPr/>
          <p:nvPr/>
        </p:nvSpPr>
        <p:spPr>
          <a:xfrm>
            <a:off x="4419600" y="5448300"/>
            <a:ext cx="6438900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43450" y="560070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2: batch + speed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10934700" y="5448300"/>
            <a:ext cx="6438900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258550" y="560070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stream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1219200" y="6457950"/>
            <a:ext cx="29222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 phức tạp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4419600" y="6324600"/>
            <a:ext cx="6438900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43450" y="647700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logic 2 lần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10934700" y="6324600"/>
            <a:ext cx="6438900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258550" y="647700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code base</a:t>
            </a:r>
            <a:endParaRPr lang="en-US" sz="2100" dirty="0"/>
          </a:p>
        </p:txBody>
      </p:sp>
      <p:sp>
        <p:nvSpPr>
          <p:cNvPr id="24" name="Text 20"/>
          <p:cNvSpPr/>
          <p:nvPr/>
        </p:nvSpPr>
        <p:spPr>
          <a:xfrm>
            <a:off x="1219200" y="7334250"/>
            <a:ext cx="29222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 nhất quán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4419600" y="7200900"/>
            <a:ext cx="6438900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43450" y="735330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 lệch giữa 2 đường</a:t>
            </a:r>
            <a:endParaRPr lang="en-US" sz="2100" dirty="0"/>
          </a:p>
        </p:txBody>
      </p:sp>
      <p:sp>
        <p:nvSpPr>
          <p:cNvPr id="27" name="Shape 23"/>
          <p:cNvSpPr/>
          <p:nvPr/>
        </p:nvSpPr>
        <p:spPr>
          <a:xfrm>
            <a:off x="10934700" y="7200900"/>
            <a:ext cx="6438900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1258550" y="735330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nguồn sự thật</a:t>
            </a:r>
            <a:endParaRPr lang="en-US" sz="2100" dirty="0"/>
          </a:p>
        </p:txBody>
      </p:sp>
      <p:sp>
        <p:nvSpPr>
          <p:cNvPr id="29" name="Text 25"/>
          <p:cNvSpPr/>
          <p:nvPr/>
        </p:nvSpPr>
        <p:spPr>
          <a:xfrm>
            <a:off x="1219200" y="8210550"/>
            <a:ext cx="29222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dùng</a:t>
            </a:r>
            <a:endParaRPr lang="en-US" sz="2100" dirty="0"/>
          </a:p>
        </p:txBody>
      </p:sp>
      <p:sp>
        <p:nvSpPr>
          <p:cNvPr id="30" name="Shape 26"/>
          <p:cNvSpPr/>
          <p:nvPr/>
        </p:nvSpPr>
        <p:spPr>
          <a:xfrm>
            <a:off x="4419600" y="8077200"/>
            <a:ext cx="6438900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43450" y="822960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 đã có, thêm realtime</a:t>
            </a:r>
            <a:endParaRPr lang="en-US" sz="2100" dirty="0"/>
          </a:p>
        </p:txBody>
      </p:sp>
      <p:sp>
        <p:nvSpPr>
          <p:cNvPr id="32" name="Shape 28"/>
          <p:cNvSpPr/>
          <p:nvPr/>
        </p:nvSpPr>
        <p:spPr>
          <a:xfrm>
            <a:off x="10934700" y="8077200"/>
            <a:ext cx="6438900" cy="8001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1258550" y="822960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 mới, log có thể replay</a:t>
            </a:r>
            <a:endParaRPr lang="en-US" sz="2100" dirty="0"/>
          </a:p>
        </p:txBody>
      </p:sp>
      <p:sp>
        <p:nvSpPr>
          <p:cNvPr id="34" name="Text 30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58263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 tham chiếu dự án cà phê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74219"/>
            <a:ext cx="2817912" cy="6619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4056" y="3436144"/>
            <a:ext cx="257859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4050506"/>
            <a:ext cx="2817912" cy="6619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4056" y="4212431"/>
            <a:ext cx="257859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826794"/>
            <a:ext cx="2817912" cy="6619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4056" y="4988719"/>
            <a:ext cx="257859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IoT</a:t>
            </a:r>
            <a:endParaRPr lang="en-US" sz="2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2312" y="4095750"/>
            <a:ext cx="381000" cy="5715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3312" y="3333750"/>
            <a:ext cx="2817986" cy="2095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56187" y="3823395"/>
            <a:ext cx="146545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Ingestion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4635847" y="4299645"/>
            <a:ext cx="177291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164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 · Airbyte stream · Kafka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1298" y="4095750"/>
            <a:ext cx="381000" cy="5715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312298" y="3143250"/>
            <a:ext cx="3663330" cy="2476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01236" y="3662362"/>
            <a:ext cx="2294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 · Iceberg</a:t>
            </a:r>
            <a:endParaRPr lang="en-US" sz="2250" dirty="0"/>
          </a:p>
        </p:txBody>
      </p:sp>
      <p:sp>
        <p:nvSpPr>
          <p:cNvPr id="17" name="Shape 13"/>
          <p:cNvSpPr/>
          <p:nvPr/>
        </p:nvSpPr>
        <p:spPr>
          <a:xfrm>
            <a:off x="7540898" y="4157663"/>
            <a:ext cx="1007492" cy="519113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17098" y="4271963"/>
            <a:ext cx="8550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8643640" y="4157663"/>
            <a:ext cx="1004069" cy="519113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719840" y="4271963"/>
            <a:ext cx="85166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9742959" y="4157663"/>
            <a:ext cx="1004069" cy="519113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819159" y="4271963"/>
            <a:ext cx="85166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gold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519740" y="4810125"/>
            <a:ext cx="137328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· dbt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75628" y="4095750"/>
            <a:ext cx="381000" cy="5715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1356628" y="3333750"/>
            <a:ext cx="2817986" cy="2095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1537603" y="3817144"/>
            <a:ext cx="2456036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Warehouse / Serving</a:t>
            </a:r>
            <a:endParaRPr lang="en-US" sz="2250" dirty="0"/>
          </a:p>
        </p:txBody>
      </p:sp>
      <p:sp>
        <p:nvSpPr>
          <p:cNvPr id="27" name="Text 22"/>
          <p:cNvSpPr/>
          <p:nvPr/>
        </p:nvSpPr>
        <p:spPr>
          <a:xfrm>
            <a:off x="12057206" y="4655344"/>
            <a:ext cx="141675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ClickHouse</a:t>
            </a:r>
            <a:endParaRPr lang="en-US" sz="1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74614" y="4095750"/>
            <a:ext cx="381000" cy="5715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4555614" y="3548063"/>
            <a:ext cx="2817986" cy="7762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4732419" y="3767138"/>
            <a:ext cx="246437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</a:t>
            </a:r>
            <a:endParaRPr lang="en-US" sz="2100" dirty="0"/>
          </a:p>
        </p:txBody>
      </p:sp>
      <p:sp>
        <p:nvSpPr>
          <p:cNvPr id="31" name="Shape 25"/>
          <p:cNvSpPr/>
          <p:nvPr/>
        </p:nvSpPr>
        <p:spPr>
          <a:xfrm>
            <a:off x="14555614" y="4438650"/>
            <a:ext cx="2817986" cy="7762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4732419" y="4657725"/>
            <a:ext cx="246437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ML</a:t>
            </a:r>
            <a:endParaRPr lang="en-US" sz="2100" dirty="0"/>
          </a:p>
        </p:txBody>
      </p:sp>
      <p:sp>
        <p:nvSpPr>
          <p:cNvPr id="33" name="Shape 27"/>
          <p:cNvSpPr/>
          <p:nvPr/>
        </p:nvSpPr>
        <p:spPr>
          <a:xfrm>
            <a:off x="914400" y="6858000"/>
            <a:ext cx="12230100" cy="6858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487888" y="7031831"/>
            <a:ext cx="339143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Orchestration · Airflow</a:t>
            </a:r>
            <a:endParaRPr lang="en-US" sz="2100" dirty="0"/>
          </a:p>
        </p:txBody>
      </p:sp>
      <p:sp>
        <p:nvSpPr>
          <p:cNvPr id="35" name="Shape 29"/>
          <p:cNvSpPr/>
          <p:nvPr/>
        </p:nvSpPr>
        <p:spPr>
          <a:xfrm>
            <a:off x="13373100" y="6858000"/>
            <a:ext cx="4000500" cy="6858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3341668" y="6886575"/>
            <a:ext cx="406336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Quality</a:t>
            </a:r>
            <a:endParaRPr lang="en-US" sz="2100" dirty="0"/>
          </a:p>
        </p:txBody>
      </p:sp>
      <p:sp>
        <p:nvSpPr>
          <p:cNvPr id="37" name="Text 31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 là hình cuối cùng sau 24 video.</a:t>
            </a:r>
            <a:endParaRPr lang="en-US" sz="2700" dirty="0"/>
          </a:p>
        </p:txBody>
      </p:sp>
      <p:sp>
        <p:nvSpPr>
          <p:cNvPr id="38" name="Text 32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39" name="Shape 33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2385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4145235"/>
            <a:ext cx="88011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"Cứ đổ hết vào Lake rồi tính"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372600" y="4145235"/>
            <a:ext cx="88011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ước bronze / silver / gold từ ngày đầu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5131966"/>
            <a:ext cx="88011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"Warehouse lỗi thời rồi"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372600" y="5131966"/>
            <a:ext cx="880110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80% câu hỏi nghiệp vụ vẫn trả lời từ warehouse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61043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#02 — Xếp công nghệ vào đúng lớp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0" y="3238500"/>
            <a:ext cx="70637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8837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 10 tên công nghệ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828800" y="3962400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Kafka · S3 · Spark · dbt · BigQuery Airflow · Debezium · Metabase · Iceberg · Postgres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9911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" y="49911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828800" y="5091113"/>
            <a:ext cx="276516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 6 ô kiến trúc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59436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2" name="Text 10"/>
          <p:cNvSpPr/>
          <p:nvPr/>
        </p:nvSpPr>
        <p:spPr>
          <a:xfrm>
            <a:off x="876300" y="59436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828800" y="6043613"/>
            <a:ext cx="334191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 từng tên vào ô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68961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" y="68961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828800" y="6996113"/>
            <a:ext cx="4365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với đáp án trong repo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039600" y="3238500"/>
            <a:ext cx="5334000" cy="2938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49175" y="3648075"/>
            <a:ext cx="49663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449175" y="41671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≥ 8/10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449175" y="4852988"/>
            <a:ext cx="465029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 vì sao Airflow không nằm trong ô nào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35816" y="3609529"/>
            <a:ext cx="42162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85938" y="4357241"/>
            <a:ext cx="14716125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cần Data Lake thay vì chỉ Data Warehouse?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36796" y="6277421"/>
            <a:ext cx="961433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phi cấu trúc, khối lượng lớn, nhiều engine cùng đọc, chi phí.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252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35584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27992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44255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 cho Data Engineer: Window Function, CTE, Query Plan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535584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10/11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2026-10-22T09:50:39Z</dcterms:created>
  <dcterms:modified xsi:type="dcterms:W3CDTF">2026-10-22T09:50:39Z</dcterms:modified>
</cp:coreProperties>
</file>